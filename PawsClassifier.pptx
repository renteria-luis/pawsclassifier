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2" r:id="rId6"/>
    <p:sldId id="260" r:id="rId7"/>
  </p:sldIdLst>
  <p:sldSz cx="9144000" cy="5143500" type="screen16x9"/>
  <p:notesSz cx="51435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41" d="100"/>
          <a:sy n="141" d="100"/>
        </p:scale>
        <p:origin x="744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r>
              <a:rPr lang="en-US" sz="4400" b="0" strike="noStrike" spc="-1">
                <a:latin typeface="Arial"/>
              </a:rPr>
              <a:t>Click to move the slide</a:t>
            </a: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r>
              <a:rPr lang="en-US" sz="2000" b="0" strike="noStrike" spc="-1">
                <a:latin typeface="Arial"/>
              </a:rPr>
              <a:t>Click to edit the notes format</a:t>
            </a:r>
          </a:p>
        </p:txBody>
      </p:sp>
      <p:sp>
        <p:nvSpPr>
          <p:cNvPr id="40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r>
              <a:rPr lang="en-US" sz="1400" b="0" strike="noStrike" spc="-1">
                <a:latin typeface="Times New Roman"/>
              </a:rPr>
              <a:t>&lt;header&gt;</a:t>
            </a:r>
          </a:p>
        </p:txBody>
      </p:sp>
      <p:sp>
        <p:nvSpPr>
          <p:cNvPr id="41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r">
              <a:buNone/>
              <a:defRPr lang="en-US" sz="1400" b="0" strike="noStrike" spc="-1">
                <a:latin typeface="Times New Roman"/>
              </a:defRPr>
            </a:lvl1pPr>
          </a:lstStyle>
          <a:p>
            <a:pPr algn="r">
              <a:buNone/>
            </a:pPr>
            <a:r>
              <a:rPr lang="en-US" sz="1400" b="0" strike="noStrike" spc="-1">
                <a:latin typeface="Times New Roman"/>
              </a:rPr>
              <a:t>&lt;date/time&gt;</a:t>
            </a:r>
          </a:p>
        </p:txBody>
      </p:sp>
      <p:sp>
        <p:nvSpPr>
          <p:cNvPr id="42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>
              <a:defRPr lang="en-US" sz="1400" b="0" strike="noStrike" spc="-1">
                <a:latin typeface="Times New Roman"/>
              </a:defRPr>
            </a:lvl1pPr>
          </a:lstStyle>
          <a:p>
            <a:r>
              <a:rPr lang="en-US" sz="1400" b="0" strike="noStrike" spc="-1">
                <a:latin typeface="Times New Roman"/>
              </a:rPr>
              <a:t>&lt;footer&gt;</a:t>
            </a:r>
          </a:p>
        </p:txBody>
      </p:sp>
      <p:sp>
        <p:nvSpPr>
          <p:cNvPr id="43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algn="r">
              <a:buNone/>
              <a:defRPr lang="en-US" sz="1400" b="0" strike="noStrike" spc="-1">
                <a:latin typeface="Times New Roman"/>
              </a:defRPr>
            </a:lvl1pPr>
          </a:lstStyle>
          <a:p>
            <a:pPr algn="r">
              <a:buNone/>
            </a:pPr>
            <a:fld id="{C7A3B194-87FB-45E3-A67C-FB739256974B}" type="slidenum">
              <a:rPr lang="en-US" sz="1400" b="0" strike="noStrike" spc="-1">
                <a:latin typeface="Times New Roman"/>
              </a:rPr>
              <a:t>‹Nº›</a:t>
            </a:fld>
            <a:endParaRPr lang="en-US" sz="1400" b="0" strike="noStrike" spc="-1"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18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000" b="0" strike="noStrike" spc="-1" dirty="0">
              <a:latin typeface="Arial"/>
            </a:endParaRPr>
          </a:p>
        </p:txBody>
      </p:sp>
      <p:sp>
        <p:nvSpPr>
          <p:cNvPr id="188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algn="r">
              <a:lnSpc>
                <a:spcPct val="100000"/>
              </a:lnSpc>
              <a:buNone/>
              <a:defRPr lang="en-US" sz="1200" b="0" strike="noStrike" spc="-1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73409821-08A3-4AB8-B325-03E242171DB5}" type="slidenum">
              <a:rPr lang="en-US" sz="1200" b="0" strike="noStrike" spc="-1">
                <a:solidFill>
                  <a:srgbClr val="000000"/>
                </a:solidFill>
                <a:latin typeface="+mn-lt"/>
                <a:ea typeface="+mn-ea"/>
              </a:rPr>
              <a:t>1</a:t>
            </a:fld>
            <a:endParaRPr lang="en-US" sz="1200" b="0" strike="noStrike" spc="-1">
              <a:latin typeface="Times New Roman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19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91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algn="r">
              <a:lnSpc>
                <a:spcPct val="100000"/>
              </a:lnSpc>
              <a:buNone/>
              <a:defRPr lang="en-US" sz="1200" b="0" strike="noStrike" spc="-1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D9DE0BF3-97ED-4E55-8E63-B3340E2D2628}" type="slidenum">
              <a:rPr lang="en-US" sz="1200" b="0" strike="noStrike" spc="-1">
                <a:solidFill>
                  <a:srgbClr val="000000"/>
                </a:solidFill>
                <a:latin typeface="+mn-lt"/>
                <a:ea typeface="+mn-ea"/>
              </a:rPr>
              <a:t>2</a:t>
            </a:fld>
            <a:endParaRPr lang="en-US" sz="1200" b="0" strike="noStrike" spc="-1">
              <a:latin typeface="Times New Roman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19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94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algn="r">
              <a:lnSpc>
                <a:spcPct val="100000"/>
              </a:lnSpc>
              <a:buNone/>
              <a:defRPr lang="en-US" sz="1200" b="0" strike="noStrike" spc="-1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98662BF3-FB69-46DB-A9DC-32D1D04A1F3A}" type="slidenum">
              <a:rPr lang="en-US" sz="1200" b="0" strike="noStrike" spc="-1">
                <a:solidFill>
                  <a:srgbClr val="000000"/>
                </a:solidFill>
                <a:latin typeface="+mn-lt"/>
                <a:ea typeface="+mn-ea"/>
              </a:rPr>
              <a:t>3</a:t>
            </a:fld>
            <a:endParaRPr lang="en-US" sz="1200" b="0" strike="noStrike" spc="-1">
              <a:latin typeface="Times New Roman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19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97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algn="r">
              <a:lnSpc>
                <a:spcPct val="100000"/>
              </a:lnSpc>
              <a:buNone/>
              <a:defRPr lang="en-US" sz="1200" b="0" strike="noStrike" spc="-1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76C0A34A-EC7B-4FBF-9AFF-5CFF117B7EA3}" type="slidenum">
              <a:rPr lang="en-US" sz="1200" b="0" strike="noStrike" spc="-1">
                <a:solidFill>
                  <a:srgbClr val="000000"/>
                </a:solidFill>
                <a:latin typeface="+mn-lt"/>
                <a:ea typeface="+mn-ea"/>
              </a:rPr>
              <a:t>4</a:t>
            </a:fld>
            <a:endParaRPr lang="en-US" sz="1200" b="0" strike="noStrike" spc="-1">
              <a:latin typeface="Times New Roman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19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97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algn="r">
              <a:lnSpc>
                <a:spcPct val="100000"/>
              </a:lnSpc>
              <a:buNone/>
              <a:defRPr lang="en-US" sz="1200" b="0" strike="noStrike" spc="-1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76C0A34A-EC7B-4FBF-9AFF-5CFF117B7EA3}" type="slidenum">
              <a:rPr lang="en-US" sz="1200" b="0" strike="noStrike" spc="-1">
                <a:solidFill>
                  <a:srgbClr val="000000"/>
                </a:solidFill>
                <a:latin typeface="+mn-lt"/>
                <a:ea typeface="+mn-ea"/>
              </a:rPr>
              <a:t>5</a:t>
            </a:fld>
            <a:endParaRPr lang="en-US" sz="12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89003697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19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200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algn="r">
              <a:lnSpc>
                <a:spcPct val="100000"/>
              </a:lnSpc>
              <a:buNone/>
              <a:defRPr lang="en-US" sz="1200" b="0" strike="noStrike" spc="-1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6942DACD-9FD6-40AD-ADF3-00AA8358C97A}" type="slidenum">
              <a:rPr lang="en-US" sz="1200" b="0" strike="noStrike" spc="-1">
                <a:solidFill>
                  <a:srgbClr val="000000"/>
                </a:solidFill>
                <a:latin typeface="+mn-lt"/>
                <a:ea typeface="+mn-ea"/>
              </a:rPr>
              <a:t>6</a:t>
            </a:fld>
            <a:endParaRPr lang="en-US" sz="1200" b="0" strike="noStrike" spc="-1">
              <a:latin typeface="Times New Roman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457200" y="205200"/>
            <a:ext cx="8229240" cy="3981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>
          <a:xfrm>
            <a:off x="323964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/>
          </p:nvPr>
        </p:nvSpPr>
        <p:spPr>
          <a:xfrm>
            <a:off x="602208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/>
          </p:nvPr>
        </p:nvSpPr>
        <p:spPr>
          <a:xfrm>
            <a:off x="45720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/>
          </p:nvPr>
        </p:nvSpPr>
        <p:spPr>
          <a:xfrm>
            <a:off x="323964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/>
          </p:nvPr>
        </p:nvSpPr>
        <p:spPr>
          <a:xfrm>
            <a:off x="602208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r>
              <a:rPr lang="en-US" sz="4400" b="0" strike="noStrike" spc="-1">
                <a:latin typeface="Arial"/>
              </a:rPr>
              <a:t>Click to edit the title text format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strike="noStrike" spc="-1"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strike="noStrike" spc="-1"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Shape 0"/>
          <p:cNvSpPr/>
          <p:nvPr/>
        </p:nvSpPr>
        <p:spPr>
          <a:xfrm>
            <a:off x="0" y="0"/>
            <a:ext cx="9144000" cy="5142600"/>
          </a:xfrm>
          <a:prstGeom prst="rect">
            <a:avLst/>
          </a:prstGeom>
          <a:solidFill>
            <a:srgbClr val="161B27"/>
          </a:solidFill>
          <a:ln w="12700">
            <a:solidFill>
              <a:srgbClr val="161B27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45" name="Shape 1"/>
          <p:cNvSpPr/>
          <p:nvPr/>
        </p:nvSpPr>
        <p:spPr>
          <a:xfrm>
            <a:off x="0" y="0"/>
            <a:ext cx="108720" cy="514260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46" name="Text 2"/>
          <p:cNvSpPr/>
          <p:nvPr/>
        </p:nvSpPr>
        <p:spPr>
          <a:xfrm>
            <a:off x="365760" y="365760"/>
            <a:ext cx="1096200" cy="913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5200" b="0" strike="noStrike" spc="-1" dirty="0">
                <a:solidFill>
                  <a:srgbClr val="000000"/>
                </a:solidFill>
                <a:latin typeface="Calibri"/>
                <a:ea typeface="DejaVu Sans"/>
              </a:rPr>
              <a:t>🐾</a:t>
            </a:r>
            <a:endParaRPr lang="en-US" sz="5200" b="0" strike="noStrike" spc="-1" dirty="0">
              <a:latin typeface="Arial"/>
            </a:endParaRPr>
          </a:p>
        </p:txBody>
      </p:sp>
      <p:sp>
        <p:nvSpPr>
          <p:cNvPr id="47" name="Text 3"/>
          <p:cNvSpPr/>
          <p:nvPr/>
        </p:nvSpPr>
        <p:spPr>
          <a:xfrm>
            <a:off x="365760" y="1234440"/>
            <a:ext cx="4936680" cy="776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000" b="1" strike="noStrike" spc="-1">
                <a:solidFill>
                  <a:srgbClr val="F0F0F0"/>
                </a:solidFill>
                <a:latin typeface="Arial Black"/>
                <a:ea typeface="Arial Black"/>
              </a:rPr>
              <a:t>PawsClassifier</a:t>
            </a:r>
            <a:endParaRPr lang="en-US" sz="4000" b="0" strike="noStrike" spc="-1">
              <a:latin typeface="Arial"/>
            </a:endParaRPr>
          </a:p>
        </p:txBody>
      </p:sp>
      <p:sp>
        <p:nvSpPr>
          <p:cNvPr id="48" name="Text 4"/>
          <p:cNvSpPr/>
          <p:nvPr/>
        </p:nvSpPr>
        <p:spPr>
          <a:xfrm>
            <a:off x="365760" y="2030040"/>
            <a:ext cx="4936680" cy="501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600" b="0" strike="noStrike" spc="-1">
                <a:solidFill>
                  <a:srgbClr val="E94560"/>
                </a:solidFill>
                <a:latin typeface="Calibri"/>
                <a:ea typeface="Calibri"/>
              </a:rPr>
              <a:t>Pet Breed Identification with Transfer Learning</a:t>
            </a:r>
            <a:endParaRPr lang="en-US" sz="1600" b="0" strike="noStrike" spc="-1">
              <a:latin typeface="Arial"/>
            </a:endParaRPr>
          </a:p>
        </p:txBody>
      </p:sp>
      <p:sp>
        <p:nvSpPr>
          <p:cNvPr id="49" name="Shape 5"/>
          <p:cNvSpPr/>
          <p:nvPr/>
        </p:nvSpPr>
        <p:spPr>
          <a:xfrm>
            <a:off x="365760" y="2633400"/>
            <a:ext cx="4572000" cy="360"/>
          </a:xfrm>
          <a:prstGeom prst="line">
            <a:avLst/>
          </a:prstGeom>
          <a:ln w="12700">
            <a:solidFill>
              <a:srgbClr val="2A2F3E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50" name="Text 6"/>
          <p:cNvSpPr/>
          <p:nvPr/>
        </p:nvSpPr>
        <p:spPr>
          <a:xfrm>
            <a:off x="365760" y="2788920"/>
            <a:ext cx="4936680" cy="364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300" b="0" strike="noStrike" spc="-1" dirty="0">
                <a:solidFill>
                  <a:srgbClr val="AAAAAA"/>
                </a:solidFill>
                <a:latin typeface="Calibri"/>
                <a:ea typeface="Calibri"/>
              </a:rPr>
              <a:t>🎓  Fanshawe College  |  Capstone Project</a:t>
            </a:r>
            <a:endParaRPr lang="en-US" sz="1300" b="0" strike="noStrike" spc="-1" dirty="0">
              <a:latin typeface="Arial"/>
            </a:endParaRPr>
          </a:p>
        </p:txBody>
      </p:sp>
      <p:sp>
        <p:nvSpPr>
          <p:cNvPr id="51" name="Text 7"/>
          <p:cNvSpPr/>
          <p:nvPr/>
        </p:nvSpPr>
        <p:spPr>
          <a:xfrm>
            <a:off x="365760" y="3246120"/>
            <a:ext cx="4936680" cy="364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300" b="0" strike="noStrike" spc="-1">
                <a:solidFill>
                  <a:srgbClr val="AAAAAA"/>
                </a:solidFill>
                <a:latin typeface="Calibri"/>
                <a:ea typeface="Calibri"/>
              </a:rPr>
              <a:t>👤  Luis Renteria</a:t>
            </a:r>
            <a:endParaRPr lang="en-US" sz="1300" b="0" strike="noStrike" spc="-1">
              <a:latin typeface="Arial"/>
            </a:endParaRPr>
          </a:p>
        </p:txBody>
      </p:sp>
      <p:sp>
        <p:nvSpPr>
          <p:cNvPr id="52" name="Text 8"/>
          <p:cNvSpPr/>
          <p:nvPr/>
        </p:nvSpPr>
        <p:spPr>
          <a:xfrm>
            <a:off x="365760" y="3703320"/>
            <a:ext cx="4936680" cy="364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300" b="0" strike="noStrike" spc="-1">
                <a:solidFill>
                  <a:srgbClr val="AAAAAA"/>
                </a:solidFill>
                <a:latin typeface="Calibri"/>
                <a:ea typeface="Calibri"/>
              </a:rPr>
              <a:t>📦  Oxford-IIIT Pets  |  ResNet18  |  PyTorch</a:t>
            </a:r>
            <a:endParaRPr lang="en-US" sz="1300" b="0" strike="noStrike" spc="-1">
              <a:latin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Shape 0"/>
          <p:cNvSpPr/>
          <p:nvPr/>
        </p:nvSpPr>
        <p:spPr>
          <a:xfrm>
            <a:off x="0" y="0"/>
            <a:ext cx="9142920" cy="821880"/>
          </a:xfrm>
          <a:prstGeom prst="rect">
            <a:avLst/>
          </a:prstGeom>
          <a:solidFill>
            <a:srgbClr val="161B27"/>
          </a:solidFill>
          <a:ln w="12700">
            <a:solidFill>
              <a:srgbClr val="161B27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67" name="Shape 1"/>
          <p:cNvSpPr/>
          <p:nvPr/>
        </p:nvSpPr>
        <p:spPr>
          <a:xfrm>
            <a:off x="0" y="0"/>
            <a:ext cx="9142920" cy="6300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68" name="Text 2"/>
          <p:cNvSpPr/>
          <p:nvPr/>
        </p:nvSpPr>
        <p:spPr>
          <a:xfrm>
            <a:off x="365760" y="128160"/>
            <a:ext cx="8228520" cy="565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800" b="1" strike="noStrike" spc="-1">
                <a:solidFill>
                  <a:srgbClr val="F0F0F0"/>
                </a:solidFill>
                <a:latin typeface="Arial Black"/>
                <a:ea typeface="Arial Black"/>
              </a:rPr>
              <a:t>The Approach</a:t>
            </a:r>
            <a:endParaRPr lang="en-US" sz="2800" b="0" strike="noStrike" spc="-1">
              <a:latin typeface="Arial"/>
            </a:endParaRPr>
          </a:p>
        </p:txBody>
      </p:sp>
      <p:sp>
        <p:nvSpPr>
          <p:cNvPr id="69" name="Text 3"/>
          <p:cNvSpPr/>
          <p:nvPr/>
        </p:nvSpPr>
        <p:spPr>
          <a:xfrm>
            <a:off x="365760" y="1005840"/>
            <a:ext cx="4113720" cy="346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600" b="1" strike="noStrike" spc="-1">
                <a:solidFill>
                  <a:srgbClr val="E94560"/>
                </a:solidFill>
                <a:latin typeface="Calibri"/>
                <a:ea typeface="Calibri"/>
              </a:rPr>
              <a:t>Architecture Decisions</a:t>
            </a:r>
            <a:endParaRPr lang="en-US" sz="1600" b="0" strike="noStrike" spc="-1">
              <a:latin typeface="Arial"/>
            </a:endParaRPr>
          </a:p>
        </p:txBody>
      </p:sp>
      <p:sp>
        <p:nvSpPr>
          <p:cNvPr id="70" name="Shape 4"/>
          <p:cNvSpPr/>
          <p:nvPr/>
        </p:nvSpPr>
        <p:spPr>
          <a:xfrm>
            <a:off x="320040" y="1463040"/>
            <a:ext cx="53640" cy="59328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71" name="Text 5"/>
          <p:cNvSpPr/>
          <p:nvPr/>
        </p:nvSpPr>
        <p:spPr>
          <a:xfrm>
            <a:off x="502920" y="1444680"/>
            <a:ext cx="3839400" cy="273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1" strike="noStrike" spc="-1">
                <a:solidFill>
                  <a:srgbClr val="F0F0F0"/>
                </a:solidFill>
                <a:latin typeface="Calibri"/>
                <a:ea typeface="Calibri"/>
              </a:rPr>
              <a:t>ResNet18 backbone</a:t>
            </a:r>
            <a:endParaRPr lang="en-US" sz="1200" b="0" strike="noStrike" spc="-1">
              <a:latin typeface="Arial"/>
            </a:endParaRPr>
          </a:p>
        </p:txBody>
      </p:sp>
      <p:sp>
        <p:nvSpPr>
          <p:cNvPr id="72" name="Text 6"/>
          <p:cNvSpPr/>
          <p:nvPr/>
        </p:nvSpPr>
        <p:spPr>
          <a:xfrm>
            <a:off x="502920" y="1710000"/>
            <a:ext cx="3839400" cy="364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000" b="0" strike="noStrike" spc="-1">
                <a:solidFill>
                  <a:srgbClr val="AAAAAA"/>
                </a:solidFill>
                <a:latin typeface="Calibri"/>
                <a:ea typeface="Calibri"/>
              </a:rPr>
              <a:t>Pretrained on 1.2M ImageNet images. Early layers encode edges and textures, deep layers encode semantic concepts like fur, ears, and faces.</a:t>
            </a:r>
            <a:endParaRPr lang="en-US" sz="1000" b="0" strike="noStrike" spc="-1">
              <a:latin typeface="Arial"/>
            </a:endParaRPr>
          </a:p>
        </p:txBody>
      </p:sp>
      <p:sp>
        <p:nvSpPr>
          <p:cNvPr id="73" name="Shape 7"/>
          <p:cNvSpPr/>
          <p:nvPr/>
        </p:nvSpPr>
        <p:spPr>
          <a:xfrm>
            <a:off x="320040" y="2331720"/>
            <a:ext cx="53640" cy="59328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74" name="Text 8"/>
          <p:cNvSpPr/>
          <p:nvPr/>
        </p:nvSpPr>
        <p:spPr>
          <a:xfrm>
            <a:off x="502920" y="2313360"/>
            <a:ext cx="3839400" cy="273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1" strike="noStrike" spc="-1">
                <a:solidFill>
                  <a:srgbClr val="F0F0F0"/>
                </a:solidFill>
                <a:latin typeface="Calibri"/>
                <a:ea typeface="Calibri"/>
              </a:rPr>
              <a:t>Frozen weights</a:t>
            </a:r>
            <a:endParaRPr lang="en-US" sz="1200" b="0" strike="noStrike" spc="-1">
              <a:latin typeface="Arial"/>
            </a:endParaRPr>
          </a:p>
        </p:txBody>
      </p:sp>
      <p:sp>
        <p:nvSpPr>
          <p:cNvPr id="75" name="Text 9"/>
          <p:cNvSpPr/>
          <p:nvPr/>
        </p:nvSpPr>
        <p:spPr>
          <a:xfrm>
            <a:off x="502920" y="2578680"/>
            <a:ext cx="3839400" cy="364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000" b="0" strike="noStrike" spc="-1">
                <a:solidFill>
                  <a:srgbClr val="AAAAAA"/>
                </a:solidFill>
                <a:latin typeface="Calibri"/>
                <a:ea typeface="Calibri"/>
              </a:rPr>
              <a:t>Only the final classification layer was retrained. This prevents overfitting on ~3K images and keeps training under 30 minutes.</a:t>
            </a:r>
            <a:endParaRPr lang="en-US" sz="1000" b="0" strike="noStrike" spc="-1">
              <a:latin typeface="Arial"/>
            </a:endParaRPr>
          </a:p>
        </p:txBody>
      </p:sp>
      <p:sp>
        <p:nvSpPr>
          <p:cNvPr id="76" name="Shape 10"/>
          <p:cNvSpPr/>
          <p:nvPr/>
        </p:nvSpPr>
        <p:spPr>
          <a:xfrm>
            <a:off x="320040" y="3200400"/>
            <a:ext cx="53640" cy="59328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77" name="Text 11"/>
          <p:cNvSpPr/>
          <p:nvPr/>
        </p:nvSpPr>
        <p:spPr>
          <a:xfrm>
            <a:off x="502920" y="3182040"/>
            <a:ext cx="3839400" cy="273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1" strike="noStrike" spc="-1">
                <a:solidFill>
                  <a:srgbClr val="F0F0F0"/>
                </a:solidFill>
                <a:latin typeface="Calibri"/>
                <a:ea typeface="Calibri"/>
              </a:rPr>
              <a:t>Purpose</a:t>
            </a:r>
            <a:endParaRPr lang="en-US" sz="1200" b="0" strike="noStrike" spc="-1">
              <a:latin typeface="Arial"/>
            </a:endParaRPr>
          </a:p>
        </p:txBody>
      </p:sp>
      <p:sp>
        <p:nvSpPr>
          <p:cNvPr id="78" name="Text 12"/>
          <p:cNvSpPr/>
          <p:nvPr/>
        </p:nvSpPr>
        <p:spPr>
          <a:xfrm>
            <a:off x="502920" y="3447360"/>
            <a:ext cx="3839400" cy="364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000" b="0" strike="noStrike" spc="-1">
                <a:solidFill>
                  <a:srgbClr val="AAAAAA"/>
                </a:solidFill>
                <a:latin typeface="Calibri"/>
                <a:ea typeface="Calibri"/>
              </a:rPr>
              <a:t>It is a standard fine-grained recognition benchmark - challenging, many visually similar breeds.</a:t>
            </a:r>
            <a:endParaRPr lang="en-US" sz="1000" b="0" strike="noStrike" spc="-1">
              <a:latin typeface="Arial"/>
            </a:endParaRPr>
          </a:p>
        </p:txBody>
      </p:sp>
      <p:sp>
        <p:nvSpPr>
          <p:cNvPr id="79" name="Shape 13"/>
          <p:cNvSpPr/>
          <p:nvPr/>
        </p:nvSpPr>
        <p:spPr>
          <a:xfrm>
            <a:off x="320040" y="4069080"/>
            <a:ext cx="53640" cy="59328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80" name="Text 14"/>
          <p:cNvSpPr/>
          <p:nvPr/>
        </p:nvSpPr>
        <p:spPr>
          <a:xfrm>
            <a:off x="502920" y="4050720"/>
            <a:ext cx="3839400" cy="273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1" strike="noStrike" spc="-1">
                <a:solidFill>
                  <a:srgbClr val="F0F0F0"/>
                </a:solidFill>
                <a:latin typeface="Calibri"/>
                <a:ea typeface="Calibri"/>
              </a:rPr>
              <a:t>trainval / test split</a:t>
            </a:r>
            <a:endParaRPr lang="en-US" sz="1200" b="0" strike="noStrike" spc="-1">
              <a:latin typeface="Arial"/>
            </a:endParaRPr>
          </a:p>
        </p:txBody>
      </p:sp>
      <p:sp>
        <p:nvSpPr>
          <p:cNvPr id="81" name="Text 15"/>
          <p:cNvSpPr/>
          <p:nvPr/>
        </p:nvSpPr>
        <p:spPr>
          <a:xfrm>
            <a:off x="502920" y="4316040"/>
            <a:ext cx="3839400" cy="364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000" b="0" strike="noStrike" spc="-1" dirty="0">
                <a:solidFill>
                  <a:srgbClr val="AAAAAA"/>
                </a:solidFill>
                <a:latin typeface="Calibri"/>
                <a:ea typeface="Calibri"/>
              </a:rPr>
              <a:t>Used the official Oxford-IIIT split. </a:t>
            </a:r>
            <a:r>
              <a:rPr lang="en-US" sz="1000" b="0" strike="noStrike" spc="-1" dirty="0" err="1">
                <a:solidFill>
                  <a:srgbClr val="AAAAAA"/>
                </a:solidFill>
                <a:latin typeface="Calibri"/>
                <a:ea typeface="Calibri"/>
              </a:rPr>
              <a:t>Trainval</a:t>
            </a:r>
            <a:r>
              <a:rPr lang="en-US" sz="1000" b="0" strike="noStrike" spc="-1" dirty="0">
                <a:solidFill>
                  <a:srgbClr val="AAAAAA"/>
                </a:solidFill>
                <a:latin typeface="Calibri"/>
                <a:ea typeface="Calibri"/>
              </a:rPr>
              <a:t> (3,680 images) was further divided 80/20 for train/val.</a:t>
            </a:r>
            <a:endParaRPr lang="en-US" sz="1000" b="0" strike="noStrike" spc="-1" dirty="0">
              <a:latin typeface="Arial"/>
            </a:endParaRPr>
          </a:p>
        </p:txBody>
      </p:sp>
      <p:sp>
        <p:nvSpPr>
          <p:cNvPr id="82" name="Text 16"/>
          <p:cNvSpPr/>
          <p:nvPr/>
        </p:nvSpPr>
        <p:spPr>
          <a:xfrm>
            <a:off x="4846320" y="1005840"/>
            <a:ext cx="4022280" cy="346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600" b="1" strike="noStrike" spc="-1">
                <a:solidFill>
                  <a:srgbClr val="E94560"/>
                </a:solidFill>
                <a:latin typeface="Calibri"/>
                <a:ea typeface="Calibri"/>
              </a:rPr>
              <a:t>Training Pipeline</a:t>
            </a:r>
            <a:endParaRPr lang="en-US" sz="1600" b="0" strike="noStrike" spc="-1">
              <a:latin typeface="Arial"/>
            </a:endParaRPr>
          </a:p>
        </p:txBody>
      </p:sp>
      <p:sp>
        <p:nvSpPr>
          <p:cNvPr id="83" name="Shape 17"/>
          <p:cNvSpPr/>
          <p:nvPr/>
        </p:nvSpPr>
        <p:spPr>
          <a:xfrm>
            <a:off x="4846320" y="1463040"/>
            <a:ext cx="383040" cy="38304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84" name="Text 18"/>
          <p:cNvSpPr/>
          <p:nvPr/>
        </p:nvSpPr>
        <p:spPr>
          <a:xfrm>
            <a:off x="4846320" y="1463040"/>
            <a:ext cx="383040" cy="383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300" b="1" strike="noStrike" spc="-1">
                <a:solidFill>
                  <a:srgbClr val="F0F0F0"/>
                </a:solidFill>
                <a:latin typeface="Arial Black"/>
                <a:ea typeface="Arial Black"/>
              </a:rPr>
              <a:t>01</a:t>
            </a:r>
            <a:endParaRPr lang="en-US" sz="1300" b="0" strike="noStrike" spc="-1">
              <a:latin typeface="Arial"/>
            </a:endParaRPr>
          </a:p>
        </p:txBody>
      </p:sp>
      <p:sp>
        <p:nvSpPr>
          <p:cNvPr id="85" name="Text 19"/>
          <p:cNvSpPr/>
          <p:nvPr/>
        </p:nvSpPr>
        <p:spPr>
          <a:xfrm>
            <a:off x="5321880" y="1463040"/>
            <a:ext cx="3565080" cy="218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100" b="1" strike="noStrike" spc="-1" dirty="0">
                <a:solidFill>
                  <a:srgbClr val="F0F0F0"/>
                </a:solidFill>
                <a:latin typeface="Calibri"/>
                <a:ea typeface="Calibri"/>
              </a:rPr>
              <a:t>Data Augmentation</a:t>
            </a:r>
            <a:endParaRPr lang="en-US" sz="1100" b="0" strike="noStrike" spc="-1" dirty="0">
              <a:latin typeface="Arial"/>
            </a:endParaRPr>
          </a:p>
        </p:txBody>
      </p:sp>
      <p:sp>
        <p:nvSpPr>
          <p:cNvPr id="86" name="Text 20"/>
          <p:cNvSpPr/>
          <p:nvPr/>
        </p:nvSpPr>
        <p:spPr>
          <a:xfrm>
            <a:off x="5321880" y="1682640"/>
            <a:ext cx="3565080" cy="181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900" b="0" strike="noStrike" spc="-1">
                <a:solidFill>
                  <a:srgbClr val="AAAAAA"/>
                </a:solidFill>
                <a:latin typeface="Calibri"/>
                <a:ea typeface="Calibri"/>
              </a:rPr>
              <a:t>RandomResizedCrop + Flip + ColorJitter</a:t>
            </a:r>
            <a:endParaRPr lang="en-US" sz="900" b="0" strike="noStrike" spc="-1">
              <a:latin typeface="Arial"/>
            </a:endParaRPr>
          </a:p>
        </p:txBody>
      </p:sp>
      <p:sp>
        <p:nvSpPr>
          <p:cNvPr id="87" name="Shape 21"/>
          <p:cNvSpPr/>
          <p:nvPr/>
        </p:nvSpPr>
        <p:spPr>
          <a:xfrm>
            <a:off x="4846320" y="2176200"/>
            <a:ext cx="383040" cy="38304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88" name="Text 22"/>
          <p:cNvSpPr/>
          <p:nvPr/>
        </p:nvSpPr>
        <p:spPr>
          <a:xfrm>
            <a:off x="4846320" y="2176200"/>
            <a:ext cx="383040" cy="383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300" b="1" strike="noStrike" spc="-1">
                <a:solidFill>
                  <a:srgbClr val="F0F0F0"/>
                </a:solidFill>
                <a:latin typeface="Arial Black"/>
                <a:ea typeface="Arial Black"/>
              </a:rPr>
              <a:t>02</a:t>
            </a:r>
            <a:endParaRPr lang="en-US" sz="1300" b="0" strike="noStrike" spc="-1">
              <a:latin typeface="Arial"/>
            </a:endParaRPr>
          </a:p>
        </p:txBody>
      </p:sp>
      <p:sp>
        <p:nvSpPr>
          <p:cNvPr id="89" name="Text 23"/>
          <p:cNvSpPr/>
          <p:nvPr/>
        </p:nvSpPr>
        <p:spPr>
          <a:xfrm>
            <a:off x="5321880" y="2176200"/>
            <a:ext cx="3565080" cy="218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100" b="1" strike="noStrike" spc="-1">
                <a:solidFill>
                  <a:srgbClr val="F0F0F0"/>
                </a:solidFill>
                <a:latin typeface="Calibri"/>
                <a:ea typeface="Calibri"/>
              </a:rPr>
              <a:t>ImageNet Normalization</a:t>
            </a:r>
            <a:endParaRPr lang="en-US" sz="1100" b="0" strike="noStrike" spc="-1">
              <a:latin typeface="Arial"/>
            </a:endParaRPr>
          </a:p>
        </p:txBody>
      </p:sp>
      <p:sp>
        <p:nvSpPr>
          <p:cNvPr id="90" name="Text 24"/>
          <p:cNvSpPr/>
          <p:nvPr/>
        </p:nvSpPr>
        <p:spPr>
          <a:xfrm>
            <a:off x="5321880" y="2395800"/>
            <a:ext cx="3565080" cy="181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900" b="0" strike="noStrike" spc="-1">
                <a:solidFill>
                  <a:srgbClr val="AAAAAA"/>
                </a:solidFill>
                <a:latin typeface="Calibri"/>
                <a:ea typeface="Calibri"/>
              </a:rPr>
              <a:t>mean=[0.485,0.456,0.406] std=[0.229,0.224,0.225]</a:t>
            </a:r>
            <a:endParaRPr lang="en-US" sz="900" b="0" strike="noStrike" spc="-1">
              <a:latin typeface="Arial"/>
            </a:endParaRPr>
          </a:p>
        </p:txBody>
      </p:sp>
      <p:sp>
        <p:nvSpPr>
          <p:cNvPr id="91" name="Shape 25"/>
          <p:cNvSpPr/>
          <p:nvPr/>
        </p:nvSpPr>
        <p:spPr>
          <a:xfrm>
            <a:off x="4846320" y="2889360"/>
            <a:ext cx="383040" cy="38304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92" name="Text 26"/>
          <p:cNvSpPr/>
          <p:nvPr/>
        </p:nvSpPr>
        <p:spPr>
          <a:xfrm>
            <a:off x="4846320" y="2889360"/>
            <a:ext cx="383040" cy="383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300" b="1" strike="noStrike" spc="-1">
                <a:solidFill>
                  <a:srgbClr val="F0F0F0"/>
                </a:solidFill>
                <a:latin typeface="Arial Black"/>
                <a:ea typeface="Arial Black"/>
              </a:rPr>
              <a:t>03</a:t>
            </a:r>
            <a:endParaRPr lang="en-US" sz="1300" b="0" strike="noStrike" spc="-1">
              <a:latin typeface="Arial"/>
            </a:endParaRPr>
          </a:p>
        </p:txBody>
      </p:sp>
      <p:sp>
        <p:nvSpPr>
          <p:cNvPr id="93" name="Text 27"/>
          <p:cNvSpPr/>
          <p:nvPr/>
        </p:nvSpPr>
        <p:spPr>
          <a:xfrm>
            <a:off x="5321880" y="2889360"/>
            <a:ext cx="3565080" cy="218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100" b="1" strike="noStrike" spc="-1">
                <a:solidFill>
                  <a:srgbClr val="F0F0F0"/>
                </a:solidFill>
                <a:latin typeface="Calibri"/>
                <a:ea typeface="Calibri"/>
              </a:rPr>
              <a:t>ResNet18 + frozen backbone</a:t>
            </a:r>
            <a:endParaRPr lang="en-US" sz="1100" b="0" strike="noStrike" spc="-1">
              <a:latin typeface="Arial"/>
            </a:endParaRPr>
          </a:p>
        </p:txBody>
      </p:sp>
      <p:sp>
        <p:nvSpPr>
          <p:cNvPr id="94" name="Text 28"/>
          <p:cNvSpPr/>
          <p:nvPr/>
        </p:nvSpPr>
        <p:spPr>
          <a:xfrm>
            <a:off x="5321880" y="3108960"/>
            <a:ext cx="3565080" cy="181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900" b="0" strike="noStrike" spc="-1">
                <a:solidFill>
                  <a:srgbClr val="AAAAAA"/>
                </a:solidFill>
                <a:latin typeface="Calibri"/>
                <a:ea typeface="Calibri"/>
              </a:rPr>
              <a:t>Replace fc: Linear(512, 37)</a:t>
            </a:r>
            <a:endParaRPr lang="en-US" sz="900" b="0" strike="noStrike" spc="-1">
              <a:latin typeface="Arial"/>
            </a:endParaRPr>
          </a:p>
        </p:txBody>
      </p:sp>
      <p:sp>
        <p:nvSpPr>
          <p:cNvPr id="95" name="Shape 29"/>
          <p:cNvSpPr/>
          <p:nvPr/>
        </p:nvSpPr>
        <p:spPr>
          <a:xfrm>
            <a:off x="4846320" y="3602880"/>
            <a:ext cx="383040" cy="38304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96" name="Text 30"/>
          <p:cNvSpPr/>
          <p:nvPr/>
        </p:nvSpPr>
        <p:spPr>
          <a:xfrm>
            <a:off x="4846320" y="3602880"/>
            <a:ext cx="383040" cy="383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300" b="1" strike="noStrike" spc="-1">
                <a:solidFill>
                  <a:srgbClr val="F0F0F0"/>
                </a:solidFill>
                <a:latin typeface="Arial Black"/>
                <a:ea typeface="Arial Black"/>
              </a:rPr>
              <a:t>04</a:t>
            </a:r>
            <a:endParaRPr lang="en-US" sz="1300" b="0" strike="noStrike" spc="-1">
              <a:latin typeface="Arial"/>
            </a:endParaRPr>
          </a:p>
        </p:txBody>
      </p:sp>
      <p:sp>
        <p:nvSpPr>
          <p:cNvPr id="97" name="Text 31"/>
          <p:cNvSpPr/>
          <p:nvPr/>
        </p:nvSpPr>
        <p:spPr>
          <a:xfrm>
            <a:off x="5321880" y="3602880"/>
            <a:ext cx="3565080" cy="218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100" b="1" strike="noStrike" spc="-1">
                <a:solidFill>
                  <a:srgbClr val="F0F0F0"/>
                </a:solidFill>
                <a:latin typeface="Calibri"/>
                <a:ea typeface="Calibri"/>
              </a:rPr>
              <a:t>Adam optimizer</a:t>
            </a:r>
            <a:endParaRPr lang="en-US" sz="1100" b="0" strike="noStrike" spc="-1">
              <a:latin typeface="Arial"/>
            </a:endParaRPr>
          </a:p>
        </p:txBody>
      </p:sp>
      <p:sp>
        <p:nvSpPr>
          <p:cNvPr id="98" name="Text 32"/>
          <p:cNvSpPr/>
          <p:nvPr/>
        </p:nvSpPr>
        <p:spPr>
          <a:xfrm>
            <a:off x="5321880" y="3822120"/>
            <a:ext cx="3565080" cy="181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900" b="0" strike="noStrike" spc="-1">
                <a:solidFill>
                  <a:srgbClr val="AAAAAA"/>
                </a:solidFill>
                <a:latin typeface="Calibri"/>
                <a:ea typeface="Calibri"/>
              </a:rPr>
              <a:t>lr=0.001, only fc parameters</a:t>
            </a:r>
            <a:endParaRPr lang="en-US" sz="900" b="0" strike="noStrike" spc="-1">
              <a:latin typeface="Arial"/>
            </a:endParaRPr>
          </a:p>
        </p:txBody>
      </p:sp>
      <p:sp>
        <p:nvSpPr>
          <p:cNvPr id="99" name="Shape 33"/>
          <p:cNvSpPr/>
          <p:nvPr/>
        </p:nvSpPr>
        <p:spPr>
          <a:xfrm>
            <a:off x="4846320" y="4316040"/>
            <a:ext cx="383040" cy="38304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100" name="Text 34"/>
          <p:cNvSpPr/>
          <p:nvPr/>
        </p:nvSpPr>
        <p:spPr>
          <a:xfrm>
            <a:off x="4846320" y="4316040"/>
            <a:ext cx="383040" cy="383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300" b="1" strike="noStrike" spc="-1">
                <a:solidFill>
                  <a:srgbClr val="F0F0F0"/>
                </a:solidFill>
                <a:latin typeface="Arial Black"/>
                <a:ea typeface="Arial Black"/>
              </a:rPr>
              <a:t>05</a:t>
            </a:r>
            <a:endParaRPr lang="en-US" sz="1300" b="0" strike="noStrike" spc="-1">
              <a:latin typeface="Arial"/>
            </a:endParaRPr>
          </a:p>
        </p:txBody>
      </p:sp>
      <p:sp>
        <p:nvSpPr>
          <p:cNvPr id="101" name="Text 35"/>
          <p:cNvSpPr/>
          <p:nvPr/>
        </p:nvSpPr>
        <p:spPr>
          <a:xfrm>
            <a:off x="5321880" y="4316040"/>
            <a:ext cx="3565080" cy="218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100" b="1" strike="noStrike" spc="-1">
                <a:solidFill>
                  <a:srgbClr val="F0F0F0"/>
                </a:solidFill>
                <a:latin typeface="Calibri"/>
                <a:ea typeface="Calibri"/>
              </a:rPr>
              <a:t>Early stopping</a:t>
            </a:r>
            <a:endParaRPr lang="en-US" sz="1100" b="0" strike="noStrike" spc="-1">
              <a:latin typeface="Arial"/>
            </a:endParaRPr>
          </a:p>
        </p:txBody>
      </p:sp>
      <p:sp>
        <p:nvSpPr>
          <p:cNvPr id="102" name="Text 36"/>
          <p:cNvSpPr/>
          <p:nvPr/>
        </p:nvSpPr>
        <p:spPr>
          <a:xfrm>
            <a:off x="5321880" y="4535280"/>
            <a:ext cx="3565080" cy="181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900" b="0" strike="noStrike" spc="-1">
                <a:solidFill>
                  <a:srgbClr val="AAAAAA"/>
                </a:solidFill>
                <a:latin typeface="Calibri"/>
                <a:ea typeface="Calibri"/>
              </a:rPr>
              <a:t>patience=5 on val loss, best checkpoint saved</a:t>
            </a:r>
            <a:endParaRPr lang="en-US" sz="900" b="0" strike="noStrike" spc="-1">
              <a:latin typeface="Arial"/>
            </a:endParaRPr>
          </a:p>
        </p:txBody>
      </p:sp>
      <p:sp>
        <p:nvSpPr>
          <p:cNvPr id="40" name="Text 2">
            <a:extLst>
              <a:ext uri="{FF2B5EF4-FFF2-40B4-BE49-F238E27FC236}">
                <a16:creationId xmlns:a16="http://schemas.microsoft.com/office/drawing/2014/main" id="{20CC1188-205F-4D14-A49B-C8A41931DFEF}"/>
              </a:ext>
            </a:extLst>
          </p:cNvPr>
          <p:cNvSpPr/>
          <p:nvPr/>
        </p:nvSpPr>
        <p:spPr>
          <a:xfrm>
            <a:off x="8263467" y="4402667"/>
            <a:ext cx="877760" cy="72758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5200" b="0" strike="noStrike" spc="-1" dirty="0">
                <a:solidFill>
                  <a:srgbClr val="000000"/>
                </a:solidFill>
                <a:latin typeface="Calibri"/>
                <a:ea typeface="DejaVu Sans"/>
              </a:rPr>
              <a:t>🐾</a:t>
            </a:r>
            <a:endParaRPr lang="en-US" sz="5200" b="0" strike="noStrike" spc="-1" dirty="0">
              <a:latin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Shape 0"/>
          <p:cNvSpPr/>
          <p:nvPr/>
        </p:nvSpPr>
        <p:spPr>
          <a:xfrm>
            <a:off x="0" y="0"/>
            <a:ext cx="9142920" cy="821880"/>
          </a:xfrm>
          <a:prstGeom prst="rect">
            <a:avLst/>
          </a:prstGeom>
          <a:solidFill>
            <a:srgbClr val="161B27"/>
          </a:solidFill>
          <a:ln w="12700">
            <a:solidFill>
              <a:srgbClr val="161B27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104" name="Shape 1"/>
          <p:cNvSpPr/>
          <p:nvPr/>
        </p:nvSpPr>
        <p:spPr>
          <a:xfrm>
            <a:off x="0" y="0"/>
            <a:ext cx="9142920" cy="6300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105" name="Text 2"/>
          <p:cNvSpPr/>
          <p:nvPr/>
        </p:nvSpPr>
        <p:spPr>
          <a:xfrm>
            <a:off x="365760" y="128160"/>
            <a:ext cx="8228520" cy="565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800" b="1" strike="noStrike" spc="-1">
                <a:solidFill>
                  <a:srgbClr val="F0F0F0"/>
                </a:solidFill>
                <a:latin typeface="Arial Black"/>
                <a:ea typeface="Arial Black"/>
              </a:rPr>
              <a:t>Results</a:t>
            </a:r>
            <a:endParaRPr lang="en-US" sz="2800" b="0" strike="noStrike" spc="-1">
              <a:latin typeface="Arial"/>
            </a:endParaRPr>
          </a:p>
        </p:txBody>
      </p:sp>
      <p:sp>
        <p:nvSpPr>
          <p:cNvPr id="106" name="Text 19"/>
          <p:cNvSpPr/>
          <p:nvPr/>
        </p:nvSpPr>
        <p:spPr>
          <a:xfrm>
            <a:off x="365760" y="2514600"/>
            <a:ext cx="3839400" cy="291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300" b="1" strike="noStrike" spc="-1">
                <a:solidFill>
                  <a:srgbClr val="00CC44"/>
                </a:solidFill>
                <a:latin typeface="Calibri"/>
                <a:ea typeface="Calibri"/>
              </a:rPr>
              <a:t>Best Performing Breeds</a:t>
            </a:r>
            <a:endParaRPr lang="en-US" sz="1300" b="0" strike="noStrike" spc="-1">
              <a:latin typeface="Arial"/>
            </a:endParaRPr>
          </a:p>
        </p:txBody>
      </p:sp>
      <p:sp>
        <p:nvSpPr>
          <p:cNvPr id="107" name="Text 20"/>
          <p:cNvSpPr/>
          <p:nvPr/>
        </p:nvSpPr>
        <p:spPr>
          <a:xfrm>
            <a:off x="365760" y="2834640"/>
            <a:ext cx="1644840" cy="236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950" b="0" strike="noStrike" spc="-1">
                <a:solidFill>
                  <a:srgbClr val="AAAAAA"/>
                </a:solidFill>
                <a:latin typeface="Calibri"/>
                <a:ea typeface="Calibri"/>
              </a:rPr>
              <a:t>Japanese Chin 🐶</a:t>
            </a:r>
            <a:endParaRPr lang="en-US" sz="950" b="0" strike="noStrike" spc="-1">
              <a:latin typeface="Arial"/>
            </a:endParaRPr>
          </a:p>
        </p:txBody>
      </p:sp>
      <p:sp>
        <p:nvSpPr>
          <p:cNvPr id="108" name="Shape 21"/>
          <p:cNvSpPr/>
          <p:nvPr/>
        </p:nvSpPr>
        <p:spPr>
          <a:xfrm>
            <a:off x="2057400" y="2871360"/>
            <a:ext cx="1827720" cy="181800"/>
          </a:xfrm>
          <a:prstGeom prst="rect">
            <a:avLst/>
          </a:prstGeom>
          <a:solidFill>
            <a:srgbClr val="0A2A14"/>
          </a:solidFill>
          <a:ln w="12700">
            <a:solidFill>
              <a:srgbClr val="0A2A1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109" name="Shape 22"/>
          <p:cNvSpPr/>
          <p:nvPr/>
        </p:nvSpPr>
        <p:spPr>
          <a:xfrm>
            <a:off x="2057400" y="2871360"/>
            <a:ext cx="1809360" cy="181800"/>
          </a:xfrm>
          <a:prstGeom prst="rect">
            <a:avLst/>
          </a:prstGeom>
          <a:solidFill>
            <a:srgbClr val="00CC44"/>
          </a:solidFill>
          <a:ln w="12700">
            <a:solidFill>
              <a:srgbClr val="00CC4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110" name="Text 23"/>
          <p:cNvSpPr/>
          <p:nvPr/>
        </p:nvSpPr>
        <p:spPr>
          <a:xfrm>
            <a:off x="3931920" y="2834640"/>
            <a:ext cx="456120" cy="236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950" b="1" strike="noStrike" spc="-1">
                <a:solidFill>
                  <a:srgbClr val="00CC44"/>
                </a:solidFill>
                <a:latin typeface="Calibri"/>
                <a:ea typeface="Calibri"/>
              </a:rPr>
              <a:t>0.99</a:t>
            </a:r>
            <a:endParaRPr lang="en-US" sz="950" b="0" strike="noStrike" spc="-1">
              <a:latin typeface="Arial"/>
            </a:endParaRPr>
          </a:p>
        </p:txBody>
      </p:sp>
      <p:sp>
        <p:nvSpPr>
          <p:cNvPr id="111" name="Text 24"/>
          <p:cNvSpPr/>
          <p:nvPr/>
        </p:nvSpPr>
        <p:spPr>
          <a:xfrm>
            <a:off x="365760" y="3237120"/>
            <a:ext cx="1644840" cy="236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950" b="0" strike="noStrike" spc="-1">
                <a:solidFill>
                  <a:srgbClr val="AAAAAA"/>
                </a:solidFill>
                <a:latin typeface="Calibri"/>
                <a:ea typeface="Calibri"/>
              </a:rPr>
              <a:t>Keeshond 🐶</a:t>
            </a:r>
            <a:endParaRPr lang="en-US" sz="950" b="0" strike="noStrike" spc="-1">
              <a:latin typeface="Arial"/>
            </a:endParaRPr>
          </a:p>
        </p:txBody>
      </p:sp>
      <p:sp>
        <p:nvSpPr>
          <p:cNvPr id="112" name="Shape 25"/>
          <p:cNvSpPr/>
          <p:nvPr/>
        </p:nvSpPr>
        <p:spPr>
          <a:xfrm>
            <a:off x="2057400" y="3273480"/>
            <a:ext cx="1827720" cy="181800"/>
          </a:xfrm>
          <a:prstGeom prst="rect">
            <a:avLst/>
          </a:prstGeom>
          <a:solidFill>
            <a:srgbClr val="0A2A14"/>
          </a:solidFill>
          <a:ln w="12700">
            <a:solidFill>
              <a:srgbClr val="0A2A1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113" name="Shape 26"/>
          <p:cNvSpPr/>
          <p:nvPr/>
        </p:nvSpPr>
        <p:spPr>
          <a:xfrm>
            <a:off x="2057400" y="3273480"/>
            <a:ext cx="1791000" cy="181800"/>
          </a:xfrm>
          <a:prstGeom prst="rect">
            <a:avLst/>
          </a:prstGeom>
          <a:solidFill>
            <a:srgbClr val="00CC44"/>
          </a:solidFill>
          <a:ln w="12700">
            <a:solidFill>
              <a:srgbClr val="00CC4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114" name="Text 27"/>
          <p:cNvSpPr/>
          <p:nvPr/>
        </p:nvSpPr>
        <p:spPr>
          <a:xfrm>
            <a:off x="3931920" y="3237120"/>
            <a:ext cx="456120" cy="236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950" b="1" strike="noStrike" spc="-1">
                <a:solidFill>
                  <a:srgbClr val="00CC44"/>
                </a:solidFill>
                <a:latin typeface="Calibri"/>
                <a:ea typeface="Calibri"/>
              </a:rPr>
              <a:t>0.98</a:t>
            </a:r>
            <a:endParaRPr lang="en-US" sz="950" b="0" strike="noStrike" spc="-1">
              <a:latin typeface="Arial"/>
            </a:endParaRPr>
          </a:p>
        </p:txBody>
      </p:sp>
      <p:sp>
        <p:nvSpPr>
          <p:cNvPr id="115" name="Text 28"/>
          <p:cNvSpPr/>
          <p:nvPr/>
        </p:nvSpPr>
        <p:spPr>
          <a:xfrm>
            <a:off x="365760" y="3639240"/>
            <a:ext cx="1644840" cy="236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950" b="0" strike="noStrike" spc="-1">
                <a:solidFill>
                  <a:srgbClr val="AAAAAA"/>
                </a:solidFill>
                <a:latin typeface="Calibri"/>
                <a:ea typeface="Calibri"/>
              </a:rPr>
              <a:t>Scottish Terrier 🐶</a:t>
            </a:r>
            <a:endParaRPr lang="en-US" sz="950" b="0" strike="noStrike" spc="-1">
              <a:latin typeface="Arial"/>
            </a:endParaRPr>
          </a:p>
        </p:txBody>
      </p:sp>
      <p:sp>
        <p:nvSpPr>
          <p:cNvPr id="116" name="Shape 29"/>
          <p:cNvSpPr/>
          <p:nvPr/>
        </p:nvSpPr>
        <p:spPr>
          <a:xfrm>
            <a:off x="2057400" y="3675960"/>
            <a:ext cx="1827720" cy="181800"/>
          </a:xfrm>
          <a:prstGeom prst="rect">
            <a:avLst/>
          </a:prstGeom>
          <a:solidFill>
            <a:srgbClr val="0A2A14"/>
          </a:solidFill>
          <a:ln w="12700">
            <a:solidFill>
              <a:srgbClr val="0A2A1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117" name="Shape 30"/>
          <p:cNvSpPr/>
          <p:nvPr/>
        </p:nvSpPr>
        <p:spPr>
          <a:xfrm>
            <a:off x="2057400" y="3675960"/>
            <a:ext cx="1791000" cy="181800"/>
          </a:xfrm>
          <a:prstGeom prst="rect">
            <a:avLst/>
          </a:prstGeom>
          <a:solidFill>
            <a:srgbClr val="00CC44"/>
          </a:solidFill>
          <a:ln w="12700">
            <a:solidFill>
              <a:srgbClr val="00CC4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118" name="Text 31"/>
          <p:cNvSpPr/>
          <p:nvPr/>
        </p:nvSpPr>
        <p:spPr>
          <a:xfrm>
            <a:off x="3931920" y="3639240"/>
            <a:ext cx="456120" cy="236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950" b="1" strike="noStrike" spc="-1">
                <a:solidFill>
                  <a:srgbClr val="00CC44"/>
                </a:solidFill>
                <a:latin typeface="Calibri"/>
                <a:ea typeface="Calibri"/>
              </a:rPr>
              <a:t>0.98</a:t>
            </a:r>
            <a:endParaRPr lang="en-US" sz="950" b="0" strike="noStrike" spc="-1">
              <a:latin typeface="Arial"/>
            </a:endParaRPr>
          </a:p>
        </p:txBody>
      </p:sp>
      <p:sp>
        <p:nvSpPr>
          <p:cNvPr id="119" name="Text 32"/>
          <p:cNvSpPr/>
          <p:nvPr/>
        </p:nvSpPr>
        <p:spPr>
          <a:xfrm>
            <a:off x="365760" y="4041720"/>
            <a:ext cx="1644840" cy="236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950" b="0" strike="noStrike" spc="-1">
                <a:solidFill>
                  <a:srgbClr val="AAAAAA"/>
                </a:solidFill>
                <a:latin typeface="Calibri"/>
                <a:ea typeface="Calibri"/>
              </a:rPr>
              <a:t>Pug 🐶</a:t>
            </a:r>
            <a:endParaRPr lang="en-US" sz="950" b="0" strike="noStrike" spc="-1">
              <a:latin typeface="Arial"/>
            </a:endParaRPr>
          </a:p>
        </p:txBody>
      </p:sp>
      <p:sp>
        <p:nvSpPr>
          <p:cNvPr id="120" name="Shape 33"/>
          <p:cNvSpPr/>
          <p:nvPr/>
        </p:nvSpPr>
        <p:spPr>
          <a:xfrm>
            <a:off x="2057400" y="4078080"/>
            <a:ext cx="1827720" cy="181800"/>
          </a:xfrm>
          <a:prstGeom prst="rect">
            <a:avLst/>
          </a:prstGeom>
          <a:solidFill>
            <a:srgbClr val="0A2A14"/>
          </a:solidFill>
          <a:ln w="12700">
            <a:solidFill>
              <a:srgbClr val="0A2A1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121" name="Shape 34"/>
          <p:cNvSpPr/>
          <p:nvPr/>
        </p:nvSpPr>
        <p:spPr>
          <a:xfrm>
            <a:off x="2057400" y="4078080"/>
            <a:ext cx="1773000" cy="181800"/>
          </a:xfrm>
          <a:prstGeom prst="rect">
            <a:avLst/>
          </a:prstGeom>
          <a:solidFill>
            <a:srgbClr val="00CC44"/>
          </a:solidFill>
          <a:ln w="12700">
            <a:solidFill>
              <a:srgbClr val="00CC4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122" name="Text 35"/>
          <p:cNvSpPr/>
          <p:nvPr/>
        </p:nvSpPr>
        <p:spPr>
          <a:xfrm>
            <a:off x="3931920" y="4041720"/>
            <a:ext cx="456120" cy="236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950" b="1" strike="noStrike" spc="-1">
                <a:solidFill>
                  <a:srgbClr val="00CC44"/>
                </a:solidFill>
                <a:latin typeface="Calibri"/>
                <a:ea typeface="Calibri"/>
              </a:rPr>
              <a:t>0.97</a:t>
            </a:r>
            <a:endParaRPr lang="en-US" sz="950" b="0" strike="noStrike" spc="-1">
              <a:latin typeface="Arial"/>
            </a:endParaRPr>
          </a:p>
        </p:txBody>
      </p:sp>
      <p:sp>
        <p:nvSpPr>
          <p:cNvPr id="123" name="Text 36"/>
          <p:cNvSpPr/>
          <p:nvPr/>
        </p:nvSpPr>
        <p:spPr>
          <a:xfrm>
            <a:off x="365760" y="4443840"/>
            <a:ext cx="1644840" cy="236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950" b="0" strike="noStrike" spc="-1">
                <a:solidFill>
                  <a:srgbClr val="AAAAAA"/>
                </a:solidFill>
                <a:latin typeface="Calibri"/>
                <a:ea typeface="Calibri"/>
              </a:rPr>
              <a:t>Samoyed 🐶</a:t>
            </a:r>
            <a:endParaRPr lang="en-US" sz="950" b="0" strike="noStrike" spc="-1">
              <a:latin typeface="Arial"/>
            </a:endParaRPr>
          </a:p>
        </p:txBody>
      </p:sp>
      <p:sp>
        <p:nvSpPr>
          <p:cNvPr id="124" name="Shape 37"/>
          <p:cNvSpPr/>
          <p:nvPr/>
        </p:nvSpPr>
        <p:spPr>
          <a:xfrm>
            <a:off x="2057400" y="4480560"/>
            <a:ext cx="1827720" cy="181800"/>
          </a:xfrm>
          <a:prstGeom prst="rect">
            <a:avLst/>
          </a:prstGeom>
          <a:solidFill>
            <a:srgbClr val="0A2A14"/>
          </a:solidFill>
          <a:ln w="12700">
            <a:solidFill>
              <a:srgbClr val="0A2A1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125" name="Shape 38"/>
          <p:cNvSpPr/>
          <p:nvPr/>
        </p:nvSpPr>
        <p:spPr>
          <a:xfrm>
            <a:off x="2057400" y="4480560"/>
            <a:ext cx="1773000" cy="181800"/>
          </a:xfrm>
          <a:prstGeom prst="rect">
            <a:avLst/>
          </a:prstGeom>
          <a:solidFill>
            <a:srgbClr val="00CC44"/>
          </a:solidFill>
          <a:ln w="12700">
            <a:solidFill>
              <a:srgbClr val="00CC4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126" name="Text 39"/>
          <p:cNvSpPr/>
          <p:nvPr/>
        </p:nvSpPr>
        <p:spPr>
          <a:xfrm>
            <a:off x="3931920" y="4443840"/>
            <a:ext cx="456120" cy="236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950" b="1" strike="noStrike" spc="-1">
                <a:solidFill>
                  <a:srgbClr val="00CC44"/>
                </a:solidFill>
                <a:latin typeface="Calibri"/>
                <a:ea typeface="Calibri"/>
              </a:rPr>
              <a:t>0.97</a:t>
            </a:r>
            <a:endParaRPr lang="en-US" sz="950" b="0" strike="noStrike" spc="-1">
              <a:latin typeface="Arial"/>
            </a:endParaRPr>
          </a:p>
        </p:txBody>
      </p:sp>
      <p:sp>
        <p:nvSpPr>
          <p:cNvPr id="127" name="Text 40"/>
          <p:cNvSpPr/>
          <p:nvPr/>
        </p:nvSpPr>
        <p:spPr>
          <a:xfrm>
            <a:off x="4572000" y="2514600"/>
            <a:ext cx="4296600" cy="291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300" b="1" strike="noStrike" spc="-1">
                <a:solidFill>
                  <a:srgbClr val="FFAA00"/>
                </a:solidFill>
                <a:latin typeface="Calibri"/>
                <a:ea typeface="Calibri"/>
              </a:rPr>
              <a:t>Hardest Breeds (visually similar pairs)</a:t>
            </a:r>
            <a:endParaRPr lang="en-US" sz="1300" b="0" strike="noStrike" spc="-1">
              <a:latin typeface="Arial"/>
            </a:endParaRPr>
          </a:p>
        </p:txBody>
      </p:sp>
      <p:sp>
        <p:nvSpPr>
          <p:cNvPr id="128" name="Text 41"/>
          <p:cNvSpPr/>
          <p:nvPr/>
        </p:nvSpPr>
        <p:spPr>
          <a:xfrm>
            <a:off x="4572000" y="2834640"/>
            <a:ext cx="1644840" cy="236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950" b="0" strike="noStrike" spc="-1">
                <a:solidFill>
                  <a:srgbClr val="AAAAAA"/>
                </a:solidFill>
                <a:latin typeface="Calibri"/>
                <a:ea typeface="Calibri"/>
              </a:rPr>
              <a:t>American Pit Bull Terrier 🐶</a:t>
            </a:r>
            <a:endParaRPr lang="en-US" sz="950" b="0" strike="noStrike" spc="-1">
              <a:latin typeface="Arial"/>
            </a:endParaRPr>
          </a:p>
        </p:txBody>
      </p:sp>
      <p:sp>
        <p:nvSpPr>
          <p:cNvPr id="129" name="Shape 42"/>
          <p:cNvSpPr/>
          <p:nvPr/>
        </p:nvSpPr>
        <p:spPr>
          <a:xfrm>
            <a:off x="6263640" y="2871360"/>
            <a:ext cx="1827720" cy="181800"/>
          </a:xfrm>
          <a:prstGeom prst="rect">
            <a:avLst/>
          </a:prstGeom>
          <a:solidFill>
            <a:srgbClr val="2A1500"/>
          </a:solidFill>
          <a:ln w="12700">
            <a:solidFill>
              <a:srgbClr val="2A15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130" name="Shape 43"/>
          <p:cNvSpPr/>
          <p:nvPr/>
        </p:nvSpPr>
        <p:spPr>
          <a:xfrm>
            <a:off x="6263640" y="2871360"/>
            <a:ext cx="1014120" cy="181800"/>
          </a:xfrm>
          <a:prstGeom prst="rect">
            <a:avLst/>
          </a:prstGeom>
          <a:solidFill>
            <a:srgbClr val="FFAA00"/>
          </a:solidFill>
          <a:ln w="12700">
            <a:solidFill>
              <a:srgbClr val="FFAA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131" name="Text 44"/>
          <p:cNvSpPr/>
          <p:nvPr/>
        </p:nvSpPr>
        <p:spPr>
          <a:xfrm>
            <a:off x="8138160" y="2834640"/>
            <a:ext cx="456120" cy="236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950" b="1" strike="noStrike" spc="-1">
                <a:solidFill>
                  <a:srgbClr val="FFAA00"/>
                </a:solidFill>
                <a:latin typeface="Calibri"/>
                <a:ea typeface="Calibri"/>
              </a:rPr>
              <a:t>0.52</a:t>
            </a:r>
            <a:endParaRPr lang="en-US" sz="950" b="0" strike="noStrike" spc="-1">
              <a:latin typeface="Arial"/>
            </a:endParaRPr>
          </a:p>
        </p:txBody>
      </p:sp>
      <p:sp>
        <p:nvSpPr>
          <p:cNvPr id="132" name="Text 45"/>
          <p:cNvSpPr/>
          <p:nvPr/>
        </p:nvSpPr>
        <p:spPr>
          <a:xfrm>
            <a:off x="4572000" y="3237120"/>
            <a:ext cx="1644840" cy="236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950" b="0" strike="noStrike" spc="-1">
                <a:solidFill>
                  <a:srgbClr val="AAAAAA"/>
                </a:solidFill>
                <a:latin typeface="Calibri"/>
                <a:ea typeface="Calibri"/>
              </a:rPr>
              <a:t>Staffordshire Bull Terrier 🐶</a:t>
            </a:r>
            <a:endParaRPr lang="en-US" sz="950" b="0" strike="noStrike" spc="-1">
              <a:latin typeface="Arial"/>
            </a:endParaRPr>
          </a:p>
        </p:txBody>
      </p:sp>
      <p:sp>
        <p:nvSpPr>
          <p:cNvPr id="133" name="Shape 46"/>
          <p:cNvSpPr/>
          <p:nvPr/>
        </p:nvSpPr>
        <p:spPr>
          <a:xfrm>
            <a:off x="6263640" y="3273480"/>
            <a:ext cx="1827720" cy="181800"/>
          </a:xfrm>
          <a:prstGeom prst="rect">
            <a:avLst/>
          </a:prstGeom>
          <a:solidFill>
            <a:srgbClr val="2A1500"/>
          </a:solidFill>
          <a:ln w="12700">
            <a:solidFill>
              <a:srgbClr val="2A15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134" name="Shape 47"/>
          <p:cNvSpPr/>
          <p:nvPr/>
        </p:nvSpPr>
        <p:spPr>
          <a:xfrm>
            <a:off x="6263640" y="3273480"/>
            <a:ext cx="1132920" cy="181800"/>
          </a:xfrm>
          <a:prstGeom prst="rect">
            <a:avLst/>
          </a:prstGeom>
          <a:solidFill>
            <a:srgbClr val="FFAA00"/>
          </a:solidFill>
          <a:ln w="12700">
            <a:solidFill>
              <a:srgbClr val="FFAA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135" name="Text 48"/>
          <p:cNvSpPr/>
          <p:nvPr/>
        </p:nvSpPr>
        <p:spPr>
          <a:xfrm>
            <a:off x="8138160" y="3237120"/>
            <a:ext cx="456120" cy="236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950" b="1" strike="noStrike" spc="-1">
                <a:solidFill>
                  <a:srgbClr val="FFAA00"/>
                </a:solidFill>
                <a:latin typeface="Calibri"/>
                <a:ea typeface="Calibri"/>
              </a:rPr>
              <a:t>0.62</a:t>
            </a:r>
            <a:endParaRPr lang="en-US" sz="950" b="0" strike="noStrike" spc="-1">
              <a:latin typeface="Arial"/>
            </a:endParaRPr>
          </a:p>
        </p:txBody>
      </p:sp>
      <p:sp>
        <p:nvSpPr>
          <p:cNvPr id="136" name="Text 49"/>
          <p:cNvSpPr/>
          <p:nvPr/>
        </p:nvSpPr>
        <p:spPr>
          <a:xfrm>
            <a:off x="4572000" y="3639240"/>
            <a:ext cx="1644840" cy="236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950" b="0" strike="noStrike" spc="-1">
                <a:solidFill>
                  <a:srgbClr val="AAAAAA"/>
                </a:solidFill>
                <a:latin typeface="Calibri"/>
                <a:ea typeface="Calibri"/>
              </a:rPr>
              <a:t>Ragdoll 🐱</a:t>
            </a:r>
            <a:endParaRPr lang="en-US" sz="950" b="0" strike="noStrike" spc="-1">
              <a:latin typeface="Arial"/>
            </a:endParaRPr>
          </a:p>
        </p:txBody>
      </p:sp>
      <p:sp>
        <p:nvSpPr>
          <p:cNvPr id="137" name="Shape 50"/>
          <p:cNvSpPr/>
          <p:nvPr/>
        </p:nvSpPr>
        <p:spPr>
          <a:xfrm>
            <a:off x="6263640" y="3675960"/>
            <a:ext cx="1827720" cy="181800"/>
          </a:xfrm>
          <a:prstGeom prst="rect">
            <a:avLst/>
          </a:prstGeom>
          <a:solidFill>
            <a:srgbClr val="2A1500"/>
          </a:solidFill>
          <a:ln w="12700">
            <a:solidFill>
              <a:srgbClr val="2A15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138" name="Shape 51"/>
          <p:cNvSpPr/>
          <p:nvPr/>
        </p:nvSpPr>
        <p:spPr>
          <a:xfrm>
            <a:off x="6263640" y="3675960"/>
            <a:ext cx="1132920" cy="181800"/>
          </a:xfrm>
          <a:prstGeom prst="rect">
            <a:avLst/>
          </a:prstGeom>
          <a:solidFill>
            <a:srgbClr val="FFAA00"/>
          </a:solidFill>
          <a:ln w="12700">
            <a:solidFill>
              <a:srgbClr val="FFAA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139" name="Text 52"/>
          <p:cNvSpPr/>
          <p:nvPr/>
        </p:nvSpPr>
        <p:spPr>
          <a:xfrm>
            <a:off x="8138160" y="3639240"/>
            <a:ext cx="456120" cy="236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950" b="1" strike="noStrike" spc="-1">
                <a:solidFill>
                  <a:srgbClr val="FFAA00"/>
                </a:solidFill>
                <a:latin typeface="Calibri"/>
                <a:ea typeface="Calibri"/>
              </a:rPr>
              <a:t>0.62</a:t>
            </a:r>
            <a:endParaRPr lang="en-US" sz="950" b="0" strike="noStrike" spc="-1">
              <a:latin typeface="Arial"/>
            </a:endParaRPr>
          </a:p>
        </p:txBody>
      </p:sp>
      <p:sp>
        <p:nvSpPr>
          <p:cNvPr id="140" name="Text 53"/>
          <p:cNvSpPr/>
          <p:nvPr/>
        </p:nvSpPr>
        <p:spPr>
          <a:xfrm>
            <a:off x="4572000" y="4041720"/>
            <a:ext cx="1644840" cy="236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950" b="0" strike="noStrike" spc="-1">
                <a:solidFill>
                  <a:srgbClr val="AAAAAA"/>
                </a:solidFill>
                <a:latin typeface="Calibri"/>
                <a:ea typeface="Calibri"/>
              </a:rPr>
              <a:t>Birman 🐱</a:t>
            </a:r>
            <a:endParaRPr lang="en-US" sz="950" b="0" strike="noStrike" spc="-1">
              <a:latin typeface="Arial"/>
            </a:endParaRPr>
          </a:p>
        </p:txBody>
      </p:sp>
      <p:sp>
        <p:nvSpPr>
          <p:cNvPr id="141" name="Shape 54"/>
          <p:cNvSpPr/>
          <p:nvPr/>
        </p:nvSpPr>
        <p:spPr>
          <a:xfrm>
            <a:off x="6263640" y="4078080"/>
            <a:ext cx="1827720" cy="181800"/>
          </a:xfrm>
          <a:prstGeom prst="rect">
            <a:avLst/>
          </a:prstGeom>
          <a:solidFill>
            <a:srgbClr val="2A1500"/>
          </a:solidFill>
          <a:ln w="12700">
            <a:solidFill>
              <a:srgbClr val="2A15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142" name="Shape 55"/>
          <p:cNvSpPr/>
          <p:nvPr/>
        </p:nvSpPr>
        <p:spPr>
          <a:xfrm>
            <a:off x="6263640" y="4078080"/>
            <a:ext cx="1480320" cy="181800"/>
          </a:xfrm>
          <a:prstGeom prst="rect">
            <a:avLst/>
          </a:prstGeom>
          <a:solidFill>
            <a:srgbClr val="FFAA00"/>
          </a:solidFill>
          <a:ln w="12700">
            <a:solidFill>
              <a:srgbClr val="FFAA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143" name="Text 56"/>
          <p:cNvSpPr/>
          <p:nvPr/>
        </p:nvSpPr>
        <p:spPr>
          <a:xfrm>
            <a:off x="8138160" y="4041720"/>
            <a:ext cx="456120" cy="236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950" b="1" strike="noStrike" spc="-1">
                <a:solidFill>
                  <a:srgbClr val="FFAA00"/>
                </a:solidFill>
                <a:latin typeface="Calibri"/>
                <a:ea typeface="Calibri"/>
              </a:rPr>
              <a:t>0.81</a:t>
            </a:r>
            <a:endParaRPr lang="en-US" sz="950" b="0" strike="noStrike" spc="-1">
              <a:latin typeface="Arial"/>
            </a:endParaRPr>
          </a:p>
        </p:txBody>
      </p:sp>
      <p:sp>
        <p:nvSpPr>
          <p:cNvPr id="144" name="Text 57"/>
          <p:cNvSpPr/>
          <p:nvPr/>
        </p:nvSpPr>
        <p:spPr>
          <a:xfrm>
            <a:off x="4572000" y="4443840"/>
            <a:ext cx="1644840" cy="236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950" b="0" strike="noStrike" spc="-1">
                <a:solidFill>
                  <a:srgbClr val="AAAAAA"/>
                </a:solidFill>
                <a:latin typeface="Calibri"/>
                <a:ea typeface="Calibri"/>
              </a:rPr>
              <a:t>American Bulldog 🐱</a:t>
            </a:r>
            <a:endParaRPr lang="en-US" sz="950" b="0" strike="noStrike" spc="-1">
              <a:latin typeface="Arial"/>
            </a:endParaRPr>
          </a:p>
        </p:txBody>
      </p:sp>
      <p:sp>
        <p:nvSpPr>
          <p:cNvPr id="145" name="Shape 58"/>
          <p:cNvSpPr/>
          <p:nvPr/>
        </p:nvSpPr>
        <p:spPr>
          <a:xfrm>
            <a:off x="6263640" y="4480560"/>
            <a:ext cx="1827720" cy="181800"/>
          </a:xfrm>
          <a:prstGeom prst="rect">
            <a:avLst/>
          </a:prstGeom>
          <a:solidFill>
            <a:srgbClr val="2A1500"/>
          </a:solidFill>
          <a:ln w="12700">
            <a:solidFill>
              <a:srgbClr val="2A15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146" name="Shape 59"/>
          <p:cNvSpPr/>
          <p:nvPr/>
        </p:nvSpPr>
        <p:spPr>
          <a:xfrm>
            <a:off x="6263640" y="4480560"/>
            <a:ext cx="1516680" cy="181800"/>
          </a:xfrm>
          <a:prstGeom prst="rect">
            <a:avLst/>
          </a:prstGeom>
          <a:solidFill>
            <a:srgbClr val="FFAA00"/>
          </a:solidFill>
          <a:ln w="12700">
            <a:solidFill>
              <a:srgbClr val="FFAA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147" name="Text 60"/>
          <p:cNvSpPr/>
          <p:nvPr/>
        </p:nvSpPr>
        <p:spPr>
          <a:xfrm>
            <a:off x="8138160" y="4443840"/>
            <a:ext cx="456120" cy="236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950" b="1" strike="noStrike" spc="-1">
                <a:solidFill>
                  <a:srgbClr val="FFAA00"/>
                </a:solidFill>
                <a:latin typeface="Calibri"/>
                <a:ea typeface="Calibri"/>
              </a:rPr>
              <a:t>0.83</a:t>
            </a:r>
            <a:endParaRPr lang="en-US" sz="950" b="0" strike="noStrike" spc="-1">
              <a:latin typeface="Arial"/>
            </a:endParaRPr>
          </a:p>
        </p:txBody>
      </p:sp>
      <p:sp>
        <p:nvSpPr>
          <p:cNvPr id="66" name="Shape 11">
            <a:extLst>
              <a:ext uri="{FF2B5EF4-FFF2-40B4-BE49-F238E27FC236}">
                <a16:creationId xmlns:a16="http://schemas.microsoft.com/office/drawing/2014/main" id="{5DECC30E-F0C3-45E0-BC08-4816B8B8E2D9}"/>
              </a:ext>
            </a:extLst>
          </p:cNvPr>
          <p:cNvSpPr/>
          <p:nvPr/>
        </p:nvSpPr>
        <p:spPr>
          <a:xfrm>
            <a:off x="365760" y="1146420"/>
            <a:ext cx="2978033" cy="937260"/>
          </a:xfrm>
          <a:prstGeom prst="rect">
            <a:avLst/>
          </a:prstGeom>
          <a:solidFill>
            <a:srgbClr val="0F3460"/>
          </a:solidFill>
          <a:ln w="12700">
            <a:solidFill>
              <a:srgbClr val="1A2A4A"/>
            </a:solidFill>
            <a:round/>
          </a:ln>
          <a:effectLst>
            <a:outerShdw blurRad="127080" dist="37674" dir="8100000" algn="bl" rotWithShape="0">
              <a:srgbClr val="000000">
                <a:alpha val="35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/>
          <a:lstStyle/>
          <a:p>
            <a:endParaRPr lang="en-US"/>
          </a:p>
        </p:txBody>
      </p:sp>
      <p:sp>
        <p:nvSpPr>
          <p:cNvPr id="67" name="Text 29">
            <a:extLst>
              <a:ext uri="{FF2B5EF4-FFF2-40B4-BE49-F238E27FC236}">
                <a16:creationId xmlns:a16="http://schemas.microsoft.com/office/drawing/2014/main" id="{9FAD6997-995D-44C3-996E-0E48BE65F941}"/>
              </a:ext>
            </a:extLst>
          </p:cNvPr>
          <p:cNvSpPr/>
          <p:nvPr/>
        </p:nvSpPr>
        <p:spPr>
          <a:xfrm>
            <a:off x="365760" y="1277190"/>
            <a:ext cx="2978033" cy="675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171450" indent="-171450" algn="ctr">
              <a:buFont typeface="Wingdings" panose="05000000000000000000" pitchFamily="2" charset="2"/>
              <a:buChar char="ü"/>
              <a:tabLst>
                <a:tab pos="0" algn="l"/>
              </a:tabLst>
            </a:pPr>
            <a:r>
              <a:rPr lang="en-US" sz="1100" b="1" strike="noStrike" spc="-1" dirty="0">
                <a:solidFill>
                  <a:srgbClr val="FF0000"/>
                </a:solidFill>
                <a:latin typeface="Calibri"/>
                <a:ea typeface="Calibri"/>
              </a:rPr>
              <a:t>88.2% </a:t>
            </a:r>
            <a:r>
              <a:rPr lang="en-US" sz="1100" b="1" strike="noStrike" spc="-1" dirty="0">
                <a:solidFill>
                  <a:srgbClr val="F0F0F0"/>
                </a:solidFill>
                <a:latin typeface="Calibri"/>
                <a:ea typeface="Calibri"/>
              </a:rPr>
              <a:t>Test Accuracy </a:t>
            </a:r>
            <a:r>
              <a:rPr lang="en-US" sz="1100" b="0" strike="noStrike" spc="-1" dirty="0">
                <a:solidFill>
                  <a:srgbClr val="AAAAAA"/>
                </a:solidFill>
                <a:latin typeface="Calibri"/>
                <a:ea typeface="Calibri"/>
              </a:rPr>
              <a:t>3,669 held-out images</a:t>
            </a:r>
            <a:endParaRPr lang="en-US" sz="1100" b="0" strike="noStrike" spc="-1" dirty="0">
              <a:latin typeface="Arial"/>
            </a:endParaRPr>
          </a:p>
          <a:p>
            <a:pPr marL="171450" indent="-171450" algn="ctr">
              <a:buFont typeface="Wingdings" panose="05000000000000000000" pitchFamily="2" charset="2"/>
              <a:buChar char="ü"/>
              <a:tabLst>
                <a:tab pos="0" algn="l"/>
              </a:tabLst>
            </a:pPr>
            <a:r>
              <a:rPr lang="en-US" sz="1100" b="1" spc="-1" dirty="0">
                <a:solidFill>
                  <a:srgbClr val="FF0000"/>
                </a:solidFill>
                <a:latin typeface="Calibri"/>
                <a:ea typeface="Calibri"/>
              </a:rPr>
              <a:t>0.88</a:t>
            </a:r>
            <a:r>
              <a:rPr lang="en-US" sz="1100" b="1" spc="-1" dirty="0">
                <a:solidFill>
                  <a:srgbClr val="F0F0F0"/>
                </a:solidFill>
                <a:latin typeface="Calibri"/>
                <a:ea typeface="Calibri"/>
              </a:rPr>
              <a:t> Macro F1 </a:t>
            </a:r>
            <a:r>
              <a:rPr lang="en-US" sz="1100" b="0" strike="noStrike" spc="-1" dirty="0">
                <a:solidFill>
                  <a:srgbClr val="AAAAAA"/>
                </a:solidFill>
                <a:latin typeface="Calibri"/>
                <a:ea typeface="Calibri"/>
              </a:rPr>
              <a:t>avg across 37 classes</a:t>
            </a:r>
          </a:p>
          <a:p>
            <a:pPr marL="171450" indent="-171450" algn="ctr">
              <a:buFont typeface="Wingdings" panose="05000000000000000000" pitchFamily="2" charset="2"/>
              <a:buChar char="ü"/>
              <a:tabLst>
                <a:tab pos="0" algn="l"/>
              </a:tabLst>
            </a:pPr>
            <a:r>
              <a:rPr lang="en-US" sz="1100" b="1" spc="-1" dirty="0">
                <a:solidFill>
                  <a:srgbClr val="FF0000"/>
                </a:solidFill>
                <a:latin typeface="Calibri"/>
                <a:ea typeface="Calibri"/>
              </a:rPr>
              <a:t>21</a:t>
            </a:r>
            <a:r>
              <a:rPr lang="en-US" sz="1100" b="1" spc="-1" dirty="0">
                <a:solidFill>
                  <a:srgbClr val="F0F0F0"/>
                </a:solidFill>
                <a:latin typeface="Calibri"/>
                <a:ea typeface="Calibri"/>
              </a:rPr>
              <a:t> Best Epoch </a:t>
            </a:r>
            <a:r>
              <a:rPr lang="en-US" sz="1100" b="0" strike="noStrike" spc="-1" dirty="0">
                <a:solidFill>
                  <a:srgbClr val="AAAAAA"/>
                </a:solidFill>
                <a:latin typeface="Calibri"/>
                <a:ea typeface="Calibri"/>
              </a:rPr>
              <a:t>early stopped at 24</a:t>
            </a:r>
            <a:endParaRPr lang="en-US" sz="1100" b="0" strike="noStrike" spc="-1" dirty="0">
              <a:latin typeface="Arial"/>
            </a:endParaRPr>
          </a:p>
        </p:txBody>
      </p:sp>
      <p:pic>
        <p:nvPicPr>
          <p:cNvPr id="68" name="Imagen 67">
            <a:extLst>
              <a:ext uri="{FF2B5EF4-FFF2-40B4-BE49-F238E27FC236}">
                <a16:creationId xmlns:a16="http://schemas.microsoft.com/office/drawing/2014/main" id="{08AA7043-E690-410D-A076-02FF179244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52101" y="277173"/>
            <a:ext cx="2729478" cy="2084263"/>
          </a:xfrm>
          <a:prstGeom prst="rect">
            <a:avLst/>
          </a:prstGeom>
        </p:spPr>
      </p:pic>
      <p:sp>
        <p:nvSpPr>
          <p:cNvPr id="70" name="Text 2">
            <a:extLst>
              <a:ext uri="{FF2B5EF4-FFF2-40B4-BE49-F238E27FC236}">
                <a16:creationId xmlns:a16="http://schemas.microsoft.com/office/drawing/2014/main" id="{CD2B6A4D-9668-4780-9769-4FBAE6F89722}"/>
              </a:ext>
            </a:extLst>
          </p:cNvPr>
          <p:cNvSpPr/>
          <p:nvPr/>
        </p:nvSpPr>
        <p:spPr>
          <a:xfrm>
            <a:off x="8263467" y="4402667"/>
            <a:ext cx="877760" cy="72758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5200" b="0" strike="noStrike" spc="-1" dirty="0">
                <a:solidFill>
                  <a:srgbClr val="000000"/>
                </a:solidFill>
                <a:latin typeface="Calibri"/>
                <a:ea typeface="DejaVu Sans"/>
              </a:rPr>
              <a:t>🐾</a:t>
            </a:r>
            <a:endParaRPr lang="en-US" sz="5200" b="0" strike="noStrike" spc="-1" dirty="0">
              <a:latin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Shape 41"/>
          <p:cNvSpPr/>
          <p:nvPr/>
        </p:nvSpPr>
        <p:spPr>
          <a:xfrm>
            <a:off x="0" y="0"/>
            <a:ext cx="9142920" cy="821880"/>
          </a:xfrm>
          <a:prstGeom prst="rect">
            <a:avLst/>
          </a:prstGeom>
          <a:solidFill>
            <a:srgbClr val="161B27"/>
          </a:solidFill>
          <a:ln w="12700">
            <a:solidFill>
              <a:srgbClr val="161B27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151" name="Shape 44"/>
          <p:cNvSpPr/>
          <p:nvPr/>
        </p:nvSpPr>
        <p:spPr>
          <a:xfrm>
            <a:off x="0" y="0"/>
            <a:ext cx="9142920" cy="6300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152" name="Text 71"/>
          <p:cNvSpPr/>
          <p:nvPr/>
        </p:nvSpPr>
        <p:spPr>
          <a:xfrm>
            <a:off x="365760" y="128160"/>
            <a:ext cx="8228520" cy="565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800" b="1" strike="noStrike" spc="-1">
                <a:solidFill>
                  <a:srgbClr val="F0F0F0"/>
                </a:solidFill>
                <a:latin typeface="Arial Black"/>
                <a:ea typeface="Arial Black"/>
              </a:rPr>
              <a:t>Results - Misclassifications</a:t>
            </a:r>
            <a:endParaRPr lang="en-US" sz="2800" b="0" strike="noStrike" spc="-1">
              <a:latin typeface="Arial"/>
            </a:endParaRPr>
          </a:p>
        </p:txBody>
      </p:sp>
      <p:sp>
        <p:nvSpPr>
          <p:cNvPr id="153" name="Shape 45"/>
          <p:cNvSpPr/>
          <p:nvPr/>
        </p:nvSpPr>
        <p:spPr>
          <a:xfrm>
            <a:off x="274320" y="960120"/>
            <a:ext cx="8641080" cy="3840480"/>
          </a:xfrm>
          <a:prstGeom prst="rect">
            <a:avLst/>
          </a:prstGeom>
          <a:solidFill>
            <a:srgbClr val="0F3460"/>
          </a:solidFill>
          <a:ln w="12700">
            <a:solidFill>
              <a:srgbClr val="1A2A4A"/>
            </a:solidFill>
            <a:round/>
          </a:ln>
          <a:effectLst>
            <a:outerShdw blurRad="127080" dist="37674" dir="8100000" algn="bl" rotWithShape="0">
              <a:srgbClr val="000000">
                <a:alpha val="35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pic>
        <p:nvPicPr>
          <p:cNvPr id="154" name="Imagen 153"/>
          <p:cNvPicPr/>
          <p:nvPr/>
        </p:nvPicPr>
        <p:blipFill>
          <a:blip r:embed="rId3"/>
          <a:stretch/>
        </p:blipFill>
        <p:spPr>
          <a:xfrm>
            <a:off x="493200" y="1179000"/>
            <a:ext cx="8229600" cy="3429000"/>
          </a:xfrm>
          <a:prstGeom prst="rect">
            <a:avLst/>
          </a:prstGeom>
          <a:ln w="0">
            <a:noFill/>
          </a:ln>
        </p:spPr>
      </p:pic>
      <p:sp>
        <p:nvSpPr>
          <p:cNvPr id="7" name="Text 2">
            <a:extLst>
              <a:ext uri="{FF2B5EF4-FFF2-40B4-BE49-F238E27FC236}">
                <a16:creationId xmlns:a16="http://schemas.microsoft.com/office/drawing/2014/main" id="{841CB47D-E485-49BC-8709-B2BB9ED6B901}"/>
              </a:ext>
            </a:extLst>
          </p:cNvPr>
          <p:cNvSpPr/>
          <p:nvPr/>
        </p:nvSpPr>
        <p:spPr>
          <a:xfrm>
            <a:off x="8263467" y="4402667"/>
            <a:ext cx="877760" cy="72758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5200" b="0" strike="noStrike" spc="-1" dirty="0">
                <a:solidFill>
                  <a:srgbClr val="000000"/>
                </a:solidFill>
                <a:latin typeface="Calibri"/>
                <a:ea typeface="DejaVu Sans"/>
              </a:rPr>
              <a:t>🐾</a:t>
            </a:r>
            <a:endParaRPr lang="en-US" sz="5200" b="0" strike="noStrike" spc="-1" dirty="0">
              <a:latin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Shape 41"/>
          <p:cNvSpPr/>
          <p:nvPr/>
        </p:nvSpPr>
        <p:spPr>
          <a:xfrm>
            <a:off x="0" y="0"/>
            <a:ext cx="9142920" cy="821880"/>
          </a:xfrm>
          <a:prstGeom prst="rect">
            <a:avLst/>
          </a:prstGeom>
          <a:solidFill>
            <a:srgbClr val="161B27"/>
          </a:solidFill>
          <a:ln w="12700">
            <a:solidFill>
              <a:srgbClr val="161B27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151" name="Shape 44"/>
          <p:cNvSpPr/>
          <p:nvPr/>
        </p:nvSpPr>
        <p:spPr>
          <a:xfrm>
            <a:off x="0" y="0"/>
            <a:ext cx="9142920" cy="6300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152" name="Text 71"/>
          <p:cNvSpPr/>
          <p:nvPr/>
        </p:nvSpPr>
        <p:spPr>
          <a:xfrm>
            <a:off x="365760" y="128160"/>
            <a:ext cx="8228520" cy="565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800" b="1" strike="noStrike" spc="-1" dirty="0">
                <a:solidFill>
                  <a:srgbClr val="F0F0F0"/>
                </a:solidFill>
                <a:latin typeface="Arial Black"/>
                <a:ea typeface="Arial Black"/>
              </a:rPr>
              <a:t>Results </a:t>
            </a:r>
            <a:r>
              <a:rPr lang="en-US" sz="2800" b="1" spc="-1" dirty="0">
                <a:solidFill>
                  <a:srgbClr val="F0F0F0"/>
                </a:solidFill>
                <a:latin typeface="Arial Black"/>
                <a:ea typeface="Arial Black"/>
              </a:rPr>
              <a:t>-</a:t>
            </a:r>
            <a:r>
              <a:rPr lang="en-US" sz="2800" b="1" strike="noStrike" spc="-1" dirty="0">
                <a:solidFill>
                  <a:srgbClr val="F0F0F0"/>
                </a:solidFill>
                <a:latin typeface="Arial Black"/>
                <a:ea typeface="Arial Black"/>
              </a:rPr>
              <a:t> Resnet vs Gemini</a:t>
            </a:r>
            <a:endParaRPr lang="en-US" sz="2800" b="0" strike="noStrike" spc="-1" dirty="0">
              <a:latin typeface="Arial"/>
            </a:endParaRP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28F6D798-E4ED-4876-B24A-A261DFD915DF}"/>
              </a:ext>
            </a:extLst>
          </p:cNvPr>
          <p:cNvPicPr/>
          <p:nvPr/>
        </p:nvPicPr>
        <p:blipFill>
          <a:blip r:embed="rId3"/>
          <a:stretch/>
        </p:blipFill>
        <p:spPr>
          <a:xfrm>
            <a:off x="444398" y="1114145"/>
            <a:ext cx="8266107" cy="1649374"/>
          </a:xfrm>
          <a:prstGeom prst="rect">
            <a:avLst/>
          </a:prstGeom>
          <a:ln w="0">
            <a:noFill/>
          </a:ln>
        </p:spPr>
      </p:pic>
      <p:sp>
        <p:nvSpPr>
          <p:cNvPr id="13" name="Shape 11">
            <a:extLst>
              <a:ext uri="{FF2B5EF4-FFF2-40B4-BE49-F238E27FC236}">
                <a16:creationId xmlns:a16="http://schemas.microsoft.com/office/drawing/2014/main" id="{18DD7BAB-023C-4339-A1F3-AEAE914944E9}"/>
              </a:ext>
            </a:extLst>
          </p:cNvPr>
          <p:cNvSpPr/>
          <p:nvPr/>
        </p:nvSpPr>
        <p:spPr>
          <a:xfrm>
            <a:off x="3441840" y="3119659"/>
            <a:ext cx="1964880" cy="1324800"/>
          </a:xfrm>
          <a:prstGeom prst="rect">
            <a:avLst/>
          </a:prstGeom>
          <a:solidFill>
            <a:srgbClr val="0F3460"/>
          </a:solidFill>
          <a:ln w="12700">
            <a:solidFill>
              <a:srgbClr val="1A2A4A"/>
            </a:solidFill>
            <a:round/>
          </a:ln>
          <a:effectLst>
            <a:outerShdw blurRad="127080" dist="37674" dir="8100000" algn="bl" rotWithShape="0">
              <a:srgbClr val="000000">
                <a:alpha val="35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 dirty="0"/>
          </a:p>
        </p:txBody>
      </p:sp>
      <p:sp>
        <p:nvSpPr>
          <p:cNvPr id="14" name="Text 43">
            <a:extLst>
              <a:ext uri="{FF2B5EF4-FFF2-40B4-BE49-F238E27FC236}">
                <a16:creationId xmlns:a16="http://schemas.microsoft.com/office/drawing/2014/main" id="{A9FD1AE8-7759-49B9-8D56-CB4F1086A002}"/>
              </a:ext>
            </a:extLst>
          </p:cNvPr>
          <p:cNvSpPr/>
          <p:nvPr/>
        </p:nvSpPr>
        <p:spPr>
          <a:xfrm>
            <a:off x="3441840" y="3183739"/>
            <a:ext cx="1964880" cy="593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400" b="1" strike="noStrike" spc="-1" dirty="0">
                <a:solidFill>
                  <a:srgbClr val="E94560"/>
                </a:solidFill>
                <a:latin typeface="Arial Black"/>
                <a:ea typeface="Arial Black"/>
              </a:rPr>
              <a:t>90%</a:t>
            </a:r>
            <a:endParaRPr lang="en-US" sz="3400" b="0" strike="noStrike" spc="-1" dirty="0">
              <a:latin typeface="Arial"/>
            </a:endParaRPr>
          </a:p>
        </p:txBody>
      </p:sp>
      <p:sp>
        <p:nvSpPr>
          <p:cNvPr id="15" name="Text 46">
            <a:extLst>
              <a:ext uri="{FF2B5EF4-FFF2-40B4-BE49-F238E27FC236}">
                <a16:creationId xmlns:a16="http://schemas.microsoft.com/office/drawing/2014/main" id="{9ACB91D1-08A5-4833-9D2F-C71C841382F8}"/>
              </a:ext>
            </a:extLst>
          </p:cNvPr>
          <p:cNvSpPr/>
          <p:nvPr/>
        </p:nvSpPr>
        <p:spPr>
          <a:xfrm>
            <a:off x="3441840" y="3759739"/>
            <a:ext cx="1964880" cy="254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100" b="1" strike="noStrike" spc="-1">
                <a:solidFill>
                  <a:srgbClr val="F0F0F0"/>
                </a:solidFill>
                <a:latin typeface="Calibri"/>
                <a:ea typeface="Calibri"/>
              </a:rPr>
              <a:t>Benchmark (10 img)</a:t>
            </a:r>
            <a:endParaRPr lang="en-US" sz="1100" b="0" strike="noStrike" spc="-1">
              <a:latin typeface="Arial"/>
            </a:endParaRPr>
          </a:p>
        </p:txBody>
      </p:sp>
      <p:sp>
        <p:nvSpPr>
          <p:cNvPr id="16" name="Text 47">
            <a:extLst>
              <a:ext uri="{FF2B5EF4-FFF2-40B4-BE49-F238E27FC236}">
                <a16:creationId xmlns:a16="http://schemas.microsoft.com/office/drawing/2014/main" id="{9A1A3BE6-930A-46C0-BCC1-180EA3DD39F4}"/>
              </a:ext>
            </a:extLst>
          </p:cNvPr>
          <p:cNvSpPr/>
          <p:nvPr/>
        </p:nvSpPr>
        <p:spPr>
          <a:xfrm>
            <a:off x="3441840" y="4006699"/>
            <a:ext cx="1964880" cy="273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900" b="0" strike="noStrike" spc="-1" dirty="0">
                <a:solidFill>
                  <a:srgbClr val="AAAAAA"/>
                </a:solidFill>
                <a:latin typeface="Calibri"/>
                <a:ea typeface="Calibri"/>
              </a:rPr>
              <a:t>vs Gemini 2.5</a:t>
            </a:r>
            <a:endParaRPr lang="en-US" sz="900" b="0" strike="noStrike" spc="-1" dirty="0">
              <a:latin typeface="Arial"/>
            </a:endParaRP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593EA1FE-D89F-4056-A944-5C79268666EC}"/>
              </a:ext>
            </a:extLst>
          </p:cNvPr>
          <p:cNvSpPr/>
          <p:nvPr/>
        </p:nvSpPr>
        <p:spPr>
          <a:xfrm>
            <a:off x="3163147" y="2092960"/>
            <a:ext cx="2560320" cy="128693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6102DBEC-E525-4508-AFA3-EF0C4E8DB298}"/>
              </a:ext>
            </a:extLst>
          </p:cNvPr>
          <p:cNvSpPr/>
          <p:nvPr/>
        </p:nvSpPr>
        <p:spPr>
          <a:xfrm>
            <a:off x="5913120" y="1364560"/>
            <a:ext cx="2786482" cy="135467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412CF027-49FB-48AB-B64A-8F610E42011B}"/>
              </a:ext>
            </a:extLst>
          </p:cNvPr>
          <p:cNvSpPr/>
          <p:nvPr/>
        </p:nvSpPr>
        <p:spPr>
          <a:xfrm>
            <a:off x="5913119" y="1847160"/>
            <a:ext cx="2786482" cy="135467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 2">
            <a:extLst>
              <a:ext uri="{FF2B5EF4-FFF2-40B4-BE49-F238E27FC236}">
                <a16:creationId xmlns:a16="http://schemas.microsoft.com/office/drawing/2014/main" id="{4218FCC6-865F-438C-972F-5179FE0F7F52}"/>
              </a:ext>
            </a:extLst>
          </p:cNvPr>
          <p:cNvSpPr/>
          <p:nvPr/>
        </p:nvSpPr>
        <p:spPr>
          <a:xfrm>
            <a:off x="8263467" y="4402667"/>
            <a:ext cx="877760" cy="72758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5200" b="0" strike="noStrike" spc="-1" dirty="0">
                <a:solidFill>
                  <a:srgbClr val="000000"/>
                </a:solidFill>
                <a:latin typeface="Calibri"/>
                <a:ea typeface="DejaVu Sans"/>
              </a:rPr>
              <a:t>🐾</a:t>
            </a:r>
            <a:endParaRPr lang="en-US" sz="5200" b="0" strike="noStrike" spc="-1" dirty="0"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155596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Shape 0"/>
          <p:cNvSpPr/>
          <p:nvPr/>
        </p:nvSpPr>
        <p:spPr>
          <a:xfrm>
            <a:off x="0" y="0"/>
            <a:ext cx="9142920" cy="821880"/>
          </a:xfrm>
          <a:prstGeom prst="rect">
            <a:avLst/>
          </a:prstGeom>
          <a:solidFill>
            <a:srgbClr val="161B27"/>
          </a:solidFill>
          <a:ln w="12700">
            <a:solidFill>
              <a:srgbClr val="161B27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156" name="Shape 1"/>
          <p:cNvSpPr/>
          <p:nvPr/>
        </p:nvSpPr>
        <p:spPr>
          <a:xfrm>
            <a:off x="0" y="0"/>
            <a:ext cx="9142920" cy="6300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157" name="Text 2"/>
          <p:cNvSpPr/>
          <p:nvPr/>
        </p:nvSpPr>
        <p:spPr>
          <a:xfrm>
            <a:off x="365760" y="128160"/>
            <a:ext cx="8228520" cy="565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800" b="1" strike="noStrike" spc="-1">
                <a:solidFill>
                  <a:srgbClr val="F0F0F0"/>
                </a:solidFill>
                <a:latin typeface="Arial Black"/>
                <a:ea typeface="Arial Black"/>
              </a:rPr>
              <a:t>What's Next</a:t>
            </a:r>
            <a:endParaRPr lang="en-US" sz="2800" b="0" strike="noStrike" spc="-1">
              <a:latin typeface="Arial"/>
            </a:endParaRPr>
          </a:p>
        </p:txBody>
      </p:sp>
      <p:sp>
        <p:nvSpPr>
          <p:cNvPr id="158" name="Text 16"/>
          <p:cNvSpPr/>
          <p:nvPr/>
        </p:nvSpPr>
        <p:spPr>
          <a:xfrm>
            <a:off x="235440" y="1005840"/>
            <a:ext cx="4205160" cy="346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600" b="1" strike="noStrike" spc="-1">
                <a:solidFill>
                  <a:srgbClr val="E94560"/>
                </a:solidFill>
                <a:latin typeface="Calibri"/>
                <a:ea typeface="Calibri"/>
              </a:rPr>
              <a:t>What Could Improve This</a:t>
            </a:r>
            <a:endParaRPr lang="en-US" sz="1600" b="0" strike="noStrike" spc="-1">
              <a:latin typeface="Arial"/>
            </a:endParaRPr>
          </a:p>
        </p:txBody>
      </p:sp>
      <p:sp>
        <p:nvSpPr>
          <p:cNvPr id="159" name="Shape 17"/>
          <p:cNvSpPr/>
          <p:nvPr/>
        </p:nvSpPr>
        <p:spPr>
          <a:xfrm>
            <a:off x="235440" y="1409400"/>
            <a:ext cx="8450640" cy="1004760"/>
          </a:xfrm>
          <a:prstGeom prst="rect">
            <a:avLst/>
          </a:prstGeom>
          <a:solidFill>
            <a:srgbClr val="161B27"/>
          </a:solidFill>
          <a:ln w="12700">
            <a:solidFill>
              <a:srgbClr val="2A2F3E"/>
            </a:solidFill>
            <a:round/>
          </a:ln>
          <a:effectLst>
            <a:outerShdw blurRad="76320" dist="25455" dir="8100000" algn="bl" rotWithShape="0">
              <a:srgbClr val="000000">
                <a:alpha val="2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160" name="Text 18"/>
          <p:cNvSpPr/>
          <p:nvPr/>
        </p:nvSpPr>
        <p:spPr>
          <a:xfrm>
            <a:off x="345240" y="1473480"/>
            <a:ext cx="3930840" cy="273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100" b="1" strike="noStrike" spc="-1">
                <a:solidFill>
                  <a:srgbClr val="F0F0F0"/>
                </a:solidFill>
                <a:latin typeface="Calibri"/>
                <a:ea typeface="Calibri"/>
              </a:rPr>
              <a:t>🔓  Gradual Unfreezing (Stage 2 Fine-Tuning)</a:t>
            </a:r>
            <a:endParaRPr lang="en-US" sz="1100" b="0" strike="noStrike" spc="-1">
              <a:latin typeface="Arial"/>
            </a:endParaRPr>
          </a:p>
        </p:txBody>
      </p:sp>
      <p:sp>
        <p:nvSpPr>
          <p:cNvPr id="161" name="Text 19"/>
          <p:cNvSpPr/>
          <p:nvPr/>
        </p:nvSpPr>
        <p:spPr>
          <a:xfrm>
            <a:off x="345240" y="1775160"/>
            <a:ext cx="8340840" cy="547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900" b="0" strike="noStrike" spc="-1">
                <a:solidFill>
                  <a:srgbClr val="AAAAAA"/>
                </a:solidFill>
                <a:latin typeface="Calibri"/>
                <a:ea typeface="Calibri"/>
              </a:rPr>
              <a:t>After the classification head converges, unfreeze layer3 and layer4 of ResNet18 and continue training with lr=1e-4. The backbone would adapt higher-level features to pet-specific patterns. Estimated gain: +3-5% accuracy.</a:t>
            </a:r>
            <a:endParaRPr lang="en-US" sz="900" b="0" strike="noStrike" spc="-1">
              <a:latin typeface="Arial"/>
            </a:endParaRPr>
          </a:p>
        </p:txBody>
      </p:sp>
      <p:sp>
        <p:nvSpPr>
          <p:cNvPr id="162" name="Shape 20"/>
          <p:cNvSpPr/>
          <p:nvPr/>
        </p:nvSpPr>
        <p:spPr>
          <a:xfrm>
            <a:off x="235440" y="2552400"/>
            <a:ext cx="8450640" cy="1004760"/>
          </a:xfrm>
          <a:prstGeom prst="rect">
            <a:avLst/>
          </a:prstGeom>
          <a:solidFill>
            <a:srgbClr val="161B27"/>
          </a:solidFill>
          <a:ln w="12700">
            <a:solidFill>
              <a:srgbClr val="2A2F3E"/>
            </a:solidFill>
            <a:round/>
          </a:ln>
          <a:effectLst>
            <a:outerShdw blurRad="76320" dist="25455" dir="8100000" algn="bl" rotWithShape="0">
              <a:srgbClr val="000000">
                <a:alpha val="2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163" name="Text 21"/>
          <p:cNvSpPr/>
          <p:nvPr/>
        </p:nvSpPr>
        <p:spPr>
          <a:xfrm>
            <a:off x="345240" y="2616480"/>
            <a:ext cx="3930840" cy="273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100" b="1" strike="noStrike" spc="-1">
                <a:solidFill>
                  <a:srgbClr val="F0F0F0"/>
                </a:solidFill>
                <a:latin typeface="Calibri"/>
                <a:ea typeface="Calibri"/>
              </a:rPr>
              <a:t>🧠  Stronger Backbone</a:t>
            </a:r>
            <a:endParaRPr lang="en-US" sz="1100" b="0" strike="noStrike" spc="-1">
              <a:latin typeface="Arial"/>
            </a:endParaRPr>
          </a:p>
        </p:txBody>
      </p:sp>
      <p:sp>
        <p:nvSpPr>
          <p:cNvPr id="164" name="Text 22"/>
          <p:cNvSpPr/>
          <p:nvPr/>
        </p:nvSpPr>
        <p:spPr>
          <a:xfrm rot="21597600">
            <a:off x="344520" y="2914200"/>
            <a:ext cx="8340840" cy="547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900" b="0" strike="noStrike" spc="-1">
                <a:solidFill>
                  <a:srgbClr val="AAAAAA"/>
                </a:solidFill>
                <a:latin typeface="Calibri"/>
                <a:ea typeface="Calibri"/>
              </a:rPr>
              <a:t>EfficientNet-B4 or ViT-B/16 would offer higher feature capacity. ViT in particular handles fine-grained classification well due to global attention. Tradeoff: longer training time.</a:t>
            </a:r>
            <a:endParaRPr lang="en-US" sz="900" b="0" strike="noStrike" spc="-1">
              <a:latin typeface="Arial"/>
            </a:endParaRPr>
          </a:p>
        </p:txBody>
      </p:sp>
      <p:sp>
        <p:nvSpPr>
          <p:cNvPr id="165" name="Shape 23"/>
          <p:cNvSpPr/>
          <p:nvPr/>
        </p:nvSpPr>
        <p:spPr>
          <a:xfrm>
            <a:off x="235440" y="3695400"/>
            <a:ext cx="8450640" cy="1004760"/>
          </a:xfrm>
          <a:prstGeom prst="rect">
            <a:avLst/>
          </a:prstGeom>
          <a:solidFill>
            <a:srgbClr val="161B27"/>
          </a:solidFill>
          <a:ln w="12700">
            <a:solidFill>
              <a:srgbClr val="2A2F3E"/>
            </a:solidFill>
            <a:round/>
          </a:ln>
          <a:effectLst>
            <a:outerShdw blurRad="76320" dist="25455" dir="8100000" algn="bl" rotWithShape="0">
              <a:srgbClr val="000000">
                <a:alpha val="2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166" name="Text 24"/>
          <p:cNvSpPr/>
          <p:nvPr/>
        </p:nvSpPr>
        <p:spPr>
          <a:xfrm>
            <a:off x="345240" y="3759480"/>
            <a:ext cx="3930840" cy="273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100" b="1" strike="noStrike" spc="-1">
                <a:solidFill>
                  <a:srgbClr val="F0F0F0"/>
                </a:solidFill>
                <a:latin typeface="Calibri"/>
                <a:ea typeface="Calibri"/>
              </a:rPr>
              <a:t>✂️  Class-Aware Augmentation</a:t>
            </a:r>
            <a:endParaRPr lang="en-US" sz="1100" b="0" strike="noStrike" spc="-1">
              <a:latin typeface="Arial"/>
            </a:endParaRPr>
          </a:p>
        </p:txBody>
      </p:sp>
      <p:sp>
        <p:nvSpPr>
          <p:cNvPr id="167" name="Text 25"/>
          <p:cNvSpPr/>
          <p:nvPr/>
        </p:nvSpPr>
        <p:spPr>
          <a:xfrm>
            <a:off x="345240" y="4061160"/>
            <a:ext cx="8340840" cy="547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900" b="0" strike="noStrike" spc="-1">
                <a:solidFill>
                  <a:srgbClr val="AAAAAA"/>
                </a:solidFill>
                <a:latin typeface="Calibri"/>
                <a:ea typeface="Calibri"/>
              </a:rPr>
              <a:t>Apply Mixup or CutMix specifically on the hardest class pairs (Staffordshire vs Pit Bull, Bengal vs Abyssinian) to improve decision boundary sharpness where the model currently fails.</a:t>
            </a:r>
            <a:endParaRPr lang="en-US" sz="900" b="0" strike="noStrike" spc="-1">
              <a:latin typeface="Arial"/>
            </a:endParaRPr>
          </a:p>
        </p:txBody>
      </p:sp>
      <p:sp>
        <p:nvSpPr>
          <p:cNvPr id="168" name="Shape 26"/>
          <p:cNvSpPr/>
          <p:nvPr/>
        </p:nvSpPr>
        <p:spPr>
          <a:xfrm>
            <a:off x="0" y="4800600"/>
            <a:ext cx="9142920" cy="342000"/>
          </a:xfrm>
          <a:prstGeom prst="rect">
            <a:avLst/>
          </a:prstGeom>
          <a:solidFill>
            <a:srgbClr val="161B27"/>
          </a:solidFill>
          <a:ln w="12700">
            <a:solidFill>
              <a:srgbClr val="161B27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169" name="Text 27"/>
          <p:cNvSpPr/>
          <p:nvPr/>
        </p:nvSpPr>
        <p:spPr>
          <a:xfrm>
            <a:off x="365760" y="4827960"/>
            <a:ext cx="8228520" cy="273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100" b="0" strike="noStrike" spc="-1">
                <a:solidFill>
                  <a:srgbClr val="AAAAAA"/>
                </a:solidFill>
                <a:latin typeface="Calibri"/>
                <a:ea typeface="Calibri"/>
              </a:rPr>
              <a:t>🐾  github.com/renteria-luis/oxford-pets-classifier</a:t>
            </a:r>
            <a:endParaRPr lang="en-US" sz="1100" b="0" strike="noStrike" spc="-1">
              <a:latin typeface="Arial"/>
            </a:endParaRPr>
          </a:p>
        </p:txBody>
      </p:sp>
      <p:sp>
        <p:nvSpPr>
          <p:cNvPr id="17" name="Text 2">
            <a:extLst>
              <a:ext uri="{FF2B5EF4-FFF2-40B4-BE49-F238E27FC236}">
                <a16:creationId xmlns:a16="http://schemas.microsoft.com/office/drawing/2014/main" id="{CFEBDAF6-9D32-4844-891F-04E4778DBE2F}"/>
              </a:ext>
            </a:extLst>
          </p:cNvPr>
          <p:cNvSpPr/>
          <p:nvPr/>
        </p:nvSpPr>
        <p:spPr>
          <a:xfrm>
            <a:off x="8263467" y="4402667"/>
            <a:ext cx="877760" cy="72758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5200" b="0" strike="noStrike" spc="-1" dirty="0">
                <a:solidFill>
                  <a:srgbClr val="000000"/>
                </a:solidFill>
                <a:latin typeface="Calibri"/>
                <a:ea typeface="DejaVu Sans"/>
              </a:rPr>
              <a:t>🐾</a:t>
            </a:r>
            <a:endParaRPr lang="en-US" sz="5200" b="0" strike="noStrike" spc="-1" dirty="0">
              <a:latin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166</TotalTime>
  <Words>403</Words>
  <Application>Microsoft Office PowerPoint</Application>
  <PresentationFormat>Presentación en pantalla (16:9)</PresentationFormat>
  <Paragraphs>83</Paragraphs>
  <Slides>6</Slides>
  <Notes>6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6</vt:i4>
      </vt:variant>
    </vt:vector>
  </HeadingPairs>
  <TitlesOfParts>
    <vt:vector size="13" baseType="lpstr">
      <vt:lpstr>Arial</vt:lpstr>
      <vt:lpstr>Arial Black</vt:lpstr>
      <vt:lpstr>Calibri</vt:lpstr>
      <vt:lpstr>Symbol</vt:lpstr>
      <vt:lpstr>Times New Roman</vt:lpstr>
      <vt:lpstr>Wingdings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PawsClassifier</dc:title>
  <dc:subject>PptxGenJS Presentation</dc:subject>
  <dc:creator>Luis Renteria</dc:creator>
  <dc:description/>
  <cp:lastModifiedBy>Renteria Lezano, Luis Alberto</cp:lastModifiedBy>
  <cp:revision>11</cp:revision>
  <dcterms:created xsi:type="dcterms:W3CDTF">2026-04-14T00:46:56Z</dcterms:created>
  <dcterms:modified xsi:type="dcterms:W3CDTF">2026-04-16T22:09:19Z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4</vt:i4>
  </property>
  <property fmtid="{D5CDD505-2E9C-101B-9397-08002B2CF9AE}" pid="3" name="PresentationFormat">
    <vt:lpwstr>On-screen Show (16:9)</vt:lpwstr>
  </property>
  <property fmtid="{D5CDD505-2E9C-101B-9397-08002B2CF9AE}" pid="4" name="Slides">
    <vt:i4>4</vt:i4>
  </property>
</Properties>
</file>