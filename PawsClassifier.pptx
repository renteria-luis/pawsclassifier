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</a:t>
            </a:r>
            <a:r>
              <a:rPr b="0" lang="en-US" sz="2000" spc="-1" strike="noStrike">
                <a:latin typeface="Arial"/>
              </a:rPr>
              <a:t>k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di</a:t>
            </a:r>
            <a:r>
              <a:rPr b="0" lang="en-US" sz="2000" spc="-1" strike="noStrike">
                <a:latin typeface="Arial"/>
              </a:rPr>
              <a:t>t </a:t>
            </a:r>
            <a:r>
              <a:rPr b="0" lang="en-US" sz="2000" spc="-1" strike="noStrike">
                <a:latin typeface="Arial"/>
              </a:rPr>
              <a:t>th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ot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fo</a:t>
            </a:r>
            <a:r>
              <a:rPr b="0" lang="en-US" sz="2000" spc="-1" strike="noStrike">
                <a:latin typeface="Arial"/>
              </a:rPr>
              <a:t>r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9A4F46B-BB3B-47B3-A7B0-8F542ED1B8DA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95CAD57-B780-471C-A7D1-17C3BA74848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D3FCB3E-8EA1-49A7-8EA3-A37C19D12E1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477F819-074B-4EE5-971D-E48DC6C3443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C96CB69-8C97-46E6-8730-0F04A6DD7AD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5486040" cy="5143320"/>
          </a:xfrm>
          <a:prstGeom prst="rect">
            <a:avLst/>
          </a:prstGeom>
          <a:solidFill>
            <a:srgbClr val="161b27"/>
          </a:solidFill>
          <a:ln w="12700">
            <a:solidFill>
              <a:srgbClr val="161b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365760" y="365760"/>
            <a:ext cx="1096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200" spc="-1" strike="noStrike">
                <a:solidFill>
                  <a:srgbClr val="000000"/>
                </a:solidFill>
                <a:latin typeface="Calibri"/>
              </a:rPr>
              <a:t>🐾</a:t>
            </a:r>
            <a:endParaRPr b="0" lang="en-US" sz="52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365760" y="1234440"/>
            <a:ext cx="4937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0f0f0"/>
                </a:solidFill>
                <a:latin typeface="Arial Black"/>
                <a:ea typeface="Arial Black"/>
              </a:rPr>
              <a:t>PawsClassifier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365760" y="203004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e94560"/>
                </a:solidFill>
                <a:latin typeface="Calibri"/>
                <a:ea typeface="Calibri"/>
              </a:rPr>
              <a:t>Pet Breed Identification with Transfer Learning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365760" y="2633400"/>
            <a:ext cx="4572000" cy="360"/>
          </a:xfrm>
          <a:prstGeom prst="line">
            <a:avLst/>
          </a:prstGeom>
          <a:ln w="12700">
            <a:solidFill>
              <a:srgbClr val="2a2f3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6"/>
          <p:cNvSpPr/>
          <p:nvPr/>
        </p:nvSpPr>
        <p:spPr>
          <a:xfrm>
            <a:off x="365760" y="27889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aaaaa"/>
                </a:solidFill>
                <a:latin typeface="Calibri"/>
                <a:ea typeface="Calibri"/>
              </a:rPr>
              <a:t>🎓  </a:t>
            </a:r>
            <a:r>
              <a:rPr b="0" lang="en-US" sz="1300" spc="-1" strike="noStrike">
                <a:solidFill>
                  <a:srgbClr val="aaaaaa"/>
                </a:solidFill>
                <a:latin typeface="Calibri"/>
                <a:ea typeface="Calibri"/>
              </a:rPr>
              <a:t>Fanshawe College  |  Capstone Project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365760" y="32461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aaaaa"/>
                </a:solidFill>
                <a:latin typeface="Calibri"/>
                <a:ea typeface="Calibri"/>
              </a:rPr>
              <a:t>👤  </a:t>
            </a:r>
            <a:r>
              <a:rPr b="0" lang="en-US" sz="1300" spc="-1" strike="noStrike">
                <a:solidFill>
                  <a:srgbClr val="aaaaaa"/>
                </a:solidFill>
                <a:latin typeface="Calibri"/>
                <a:ea typeface="Calibri"/>
              </a:rPr>
              <a:t>Luis Renteria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365760" y="37033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aaaaa"/>
                </a:solidFill>
                <a:latin typeface="Calibri"/>
                <a:ea typeface="Calibri"/>
              </a:rPr>
              <a:t>📦  </a:t>
            </a:r>
            <a:r>
              <a:rPr b="0" lang="en-US" sz="1300" spc="-1" strike="noStrike">
                <a:solidFill>
                  <a:srgbClr val="aaaaaa"/>
                </a:solidFill>
                <a:latin typeface="Calibri"/>
                <a:ea typeface="Calibri"/>
              </a:rPr>
              <a:t>Oxford-IIIT Pets  |  ResNet18  |  PyTorch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5852160" y="1280160"/>
            <a:ext cx="1508400" cy="1142640"/>
          </a:xfrm>
          <a:prstGeom prst="rect">
            <a:avLst/>
          </a:prstGeom>
          <a:solidFill>
            <a:srgbClr val="0f3460"/>
          </a:solidFill>
          <a:ln w="12700">
            <a:solidFill>
              <a:srgbClr val="1a2a4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" name="Text 10"/>
          <p:cNvSpPr/>
          <p:nvPr/>
        </p:nvSpPr>
        <p:spPr>
          <a:xfrm>
            <a:off x="5852160" y="1408320"/>
            <a:ext cx="1508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e94560"/>
                </a:solidFill>
                <a:latin typeface="Arial Black"/>
                <a:ea typeface="Arial Black"/>
              </a:rPr>
              <a:t>37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5852160" y="193860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aaaaa"/>
                </a:solidFill>
                <a:latin typeface="Calibri"/>
                <a:ea typeface="Calibri"/>
              </a:rPr>
              <a:t>Classes/Breeds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" name="Shape 12"/>
          <p:cNvSpPr/>
          <p:nvPr/>
        </p:nvSpPr>
        <p:spPr>
          <a:xfrm>
            <a:off x="7543800" y="1280160"/>
            <a:ext cx="1508400" cy="1142640"/>
          </a:xfrm>
          <a:prstGeom prst="rect">
            <a:avLst/>
          </a:prstGeom>
          <a:solidFill>
            <a:srgbClr val="0f3460"/>
          </a:solidFill>
          <a:ln w="12700">
            <a:solidFill>
              <a:srgbClr val="1a2a4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7" name="Text 13"/>
          <p:cNvSpPr/>
          <p:nvPr/>
        </p:nvSpPr>
        <p:spPr>
          <a:xfrm>
            <a:off x="7543800" y="1408320"/>
            <a:ext cx="1508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e94560"/>
                </a:solidFill>
                <a:latin typeface="Arial Black"/>
                <a:ea typeface="Arial Black"/>
              </a:rPr>
              <a:t>88%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58" name="Text 14"/>
          <p:cNvSpPr/>
          <p:nvPr/>
        </p:nvSpPr>
        <p:spPr>
          <a:xfrm>
            <a:off x="7543800" y="193860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aaaaa"/>
                </a:solidFill>
                <a:latin typeface="Calibri"/>
                <a:ea typeface="Calibri"/>
              </a:rPr>
              <a:t>Test Accuracy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9" name="Shape 15"/>
          <p:cNvSpPr/>
          <p:nvPr/>
        </p:nvSpPr>
        <p:spPr>
          <a:xfrm>
            <a:off x="5852160" y="2697480"/>
            <a:ext cx="1508400" cy="1142640"/>
          </a:xfrm>
          <a:prstGeom prst="rect">
            <a:avLst/>
          </a:prstGeom>
          <a:solidFill>
            <a:srgbClr val="0f3460"/>
          </a:solidFill>
          <a:ln w="12700">
            <a:solidFill>
              <a:srgbClr val="1a2a4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0" name="Text 16"/>
          <p:cNvSpPr/>
          <p:nvPr/>
        </p:nvSpPr>
        <p:spPr>
          <a:xfrm>
            <a:off x="5852160" y="2825640"/>
            <a:ext cx="1508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e94560"/>
                </a:solidFill>
                <a:latin typeface="Arial Black"/>
                <a:ea typeface="Arial Black"/>
              </a:rPr>
              <a:t>21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1" name="Text 17"/>
          <p:cNvSpPr/>
          <p:nvPr/>
        </p:nvSpPr>
        <p:spPr>
          <a:xfrm>
            <a:off x="5852160" y="335592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aaaaa"/>
                </a:solidFill>
                <a:latin typeface="Calibri"/>
                <a:ea typeface="Calibri"/>
              </a:rPr>
              <a:t>Epochs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Shape 18"/>
          <p:cNvSpPr/>
          <p:nvPr/>
        </p:nvSpPr>
        <p:spPr>
          <a:xfrm>
            <a:off x="7543800" y="2697480"/>
            <a:ext cx="1508400" cy="1142640"/>
          </a:xfrm>
          <a:prstGeom prst="rect">
            <a:avLst/>
          </a:prstGeom>
          <a:solidFill>
            <a:srgbClr val="0f3460"/>
          </a:solidFill>
          <a:ln w="12700">
            <a:solidFill>
              <a:srgbClr val="1a2a4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3" name="Text 19"/>
          <p:cNvSpPr/>
          <p:nvPr/>
        </p:nvSpPr>
        <p:spPr>
          <a:xfrm>
            <a:off x="7543800" y="2825640"/>
            <a:ext cx="1508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e94560"/>
                </a:solidFill>
                <a:latin typeface="Arial Black"/>
                <a:ea typeface="Arial Black"/>
              </a:rPr>
              <a:t>3.7K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4" name="Text 20"/>
          <p:cNvSpPr/>
          <p:nvPr/>
        </p:nvSpPr>
        <p:spPr>
          <a:xfrm>
            <a:off x="7543800" y="335592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aaaaa"/>
                </a:solidFill>
                <a:latin typeface="Calibri"/>
                <a:ea typeface="Calibri"/>
              </a:rPr>
              <a:t>Train Images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5" name="Text 21"/>
          <p:cNvSpPr/>
          <p:nvPr/>
        </p:nvSpPr>
        <p:spPr>
          <a:xfrm>
            <a:off x="5669280" y="448056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444466"/>
                </a:solidFill>
                <a:latin typeface="Calibri"/>
                <a:ea typeface="Calibri"/>
              </a:rPr>
              <a:t>Fine-Tuning  |  Benchmarking  |  Interactive Demo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61b27"/>
          </a:solidFill>
          <a:ln w="12700">
            <a:solidFill>
              <a:srgbClr val="161b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Shape 1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2"/>
          <p:cNvSpPr/>
          <p:nvPr/>
        </p:nvSpPr>
        <p:spPr>
          <a:xfrm>
            <a:off x="365760" y="128160"/>
            <a:ext cx="8229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0f0f0"/>
                </a:solidFill>
                <a:latin typeface="Arial Black"/>
                <a:ea typeface="Arial Black"/>
              </a:rPr>
              <a:t>The Approach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365760" y="100584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e94560"/>
                </a:solidFill>
                <a:latin typeface="Calibri"/>
                <a:ea typeface="Calibri"/>
              </a:rPr>
              <a:t>Architecture Decisions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0" name="Shape 4"/>
          <p:cNvSpPr/>
          <p:nvPr/>
        </p:nvSpPr>
        <p:spPr>
          <a:xfrm>
            <a:off x="320040" y="1463040"/>
            <a:ext cx="54360" cy="5940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5"/>
          <p:cNvSpPr/>
          <p:nvPr/>
        </p:nvSpPr>
        <p:spPr>
          <a:xfrm>
            <a:off x="502920" y="144468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0f0f0"/>
                </a:solidFill>
                <a:latin typeface="Calibri"/>
                <a:ea typeface="Calibri"/>
              </a:rPr>
              <a:t>ResNet18 backbone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502920" y="171000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  <a:ea typeface="Calibri"/>
              </a:rPr>
              <a:t>Pretrained on 1.2M ImageNet images. Early layers encode edges and textures, deep layers encode semantic concepts like fur, ears, and faces.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320040" y="2331720"/>
            <a:ext cx="54360" cy="5940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8"/>
          <p:cNvSpPr/>
          <p:nvPr/>
        </p:nvSpPr>
        <p:spPr>
          <a:xfrm>
            <a:off x="502920" y="23133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0f0f0"/>
                </a:solidFill>
                <a:latin typeface="Calibri"/>
                <a:ea typeface="Calibri"/>
              </a:rPr>
              <a:t>Frozen weights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502920" y="257868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  <a:ea typeface="Calibri"/>
              </a:rPr>
              <a:t>Only the final classification layer was retrained. This prevents overfitting on ~3K images and keeps training under 30 minutes.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6" name="Shape 10"/>
          <p:cNvSpPr/>
          <p:nvPr/>
        </p:nvSpPr>
        <p:spPr>
          <a:xfrm>
            <a:off x="320040" y="3200400"/>
            <a:ext cx="54360" cy="5940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11"/>
          <p:cNvSpPr/>
          <p:nvPr/>
        </p:nvSpPr>
        <p:spPr>
          <a:xfrm>
            <a:off x="502920" y="31820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0f0f0"/>
                </a:solidFill>
                <a:latin typeface="Calibri"/>
                <a:ea typeface="Calibri"/>
              </a:rPr>
              <a:t>Purpose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502920" y="34473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  <a:ea typeface="Calibri"/>
              </a:rPr>
              <a:t>It is a standard fine-grained recognition benchmark - challenging, many visually similar breeds.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9" name="Shape 13"/>
          <p:cNvSpPr/>
          <p:nvPr/>
        </p:nvSpPr>
        <p:spPr>
          <a:xfrm>
            <a:off x="320040" y="4069080"/>
            <a:ext cx="54360" cy="5940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14"/>
          <p:cNvSpPr/>
          <p:nvPr/>
        </p:nvSpPr>
        <p:spPr>
          <a:xfrm>
            <a:off x="502920" y="405072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0f0f0"/>
                </a:solidFill>
                <a:latin typeface="Calibri"/>
                <a:ea typeface="Calibri"/>
              </a:rPr>
              <a:t>trainval / test split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502920" y="431604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aaaaa"/>
                </a:solidFill>
                <a:latin typeface="Calibri"/>
                <a:ea typeface="Calibri"/>
              </a:rPr>
              <a:t>Used the official Oxford-IIIT split. Trainval (3,680 images) was further divided 80/20 for train/val.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2" name="Text 16"/>
          <p:cNvSpPr/>
          <p:nvPr/>
        </p:nvSpPr>
        <p:spPr>
          <a:xfrm>
            <a:off x="4846320" y="100584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e94560"/>
                </a:solidFill>
                <a:latin typeface="Calibri"/>
                <a:ea typeface="Calibri"/>
              </a:rPr>
              <a:t>Training Pipeline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3" name="Shape 17"/>
          <p:cNvSpPr/>
          <p:nvPr/>
        </p:nvSpPr>
        <p:spPr>
          <a:xfrm>
            <a:off x="4846320" y="1463040"/>
            <a:ext cx="383760" cy="3837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18"/>
          <p:cNvSpPr/>
          <p:nvPr/>
        </p:nvSpPr>
        <p:spPr>
          <a:xfrm>
            <a:off x="4846320" y="1463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0f0f0"/>
                </a:solidFill>
                <a:latin typeface="Arial Black"/>
                <a:ea typeface="Arial Black"/>
              </a:rPr>
              <a:t>01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5" name="Text 19"/>
          <p:cNvSpPr/>
          <p:nvPr/>
        </p:nvSpPr>
        <p:spPr>
          <a:xfrm>
            <a:off x="5321880" y="146304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0f0f0"/>
                </a:solidFill>
                <a:latin typeface="Calibri"/>
                <a:ea typeface="Calibri"/>
              </a:rPr>
              <a:t>Data Augmentation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6" name="Text 20"/>
          <p:cNvSpPr/>
          <p:nvPr/>
        </p:nvSpPr>
        <p:spPr>
          <a:xfrm>
            <a:off x="5321880" y="1682640"/>
            <a:ext cx="3565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aaaaa"/>
                </a:solidFill>
                <a:latin typeface="Calibri"/>
                <a:ea typeface="Calibri"/>
              </a:rPr>
              <a:t>RandomResizedCrop + Flip + ColorJitter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7" name="Shape 21"/>
          <p:cNvSpPr/>
          <p:nvPr/>
        </p:nvSpPr>
        <p:spPr>
          <a:xfrm>
            <a:off x="4846320" y="2176200"/>
            <a:ext cx="383760" cy="3837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22"/>
          <p:cNvSpPr/>
          <p:nvPr/>
        </p:nvSpPr>
        <p:spPr>
          <a:xfrm>
            <a:off x="4846320" y="2176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0f0f0"/>
                </a:solidFill>
                <a:latin typeface="Arial Black"/>
                <a:ea typeface="Arial Black"/>
              </a:rPr>
              <a:t>02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9" name="Text 23"/>
          <p:cNvSpPr/>
          <p:nvPr/>
        </p:nvSpPr>
        <p:spPr>
          <a:xfrm>
            <a:off x="5321880" y="217620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0f0f0"/>
                </a:solidFill>
                <a:latin typeface="Calibri"/>
                <a:ea typeface="Calibri"/>
              </a:rPr>
              <a:t>ImageNet Normalization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0" name="Text 24"/>
          <p:cNvSpPr/>
          <p:nvPr/>
        </p:nvSpPr>
        <p:spPr>
          <a:xfrm>
            <a:off x="5321880" y="2395800"/>
            <a:ext cx="3565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aaaaa"/>
                </a:solidFill>
                <a:latin typeface="Calibri"/>
                <a:ea typeface="Calibri"/>
              </a:rPr>
              <a:t>mean=[0.485,0.456,0.406] std=[0.229,0.224,0.225]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1" name="Shape 25"/>
          <p:cNvSpPr/>
          <p:nvPr/>
        </p:nvSpPr>
        <p:spPr>
          <a:xfrm>
            <a:off x="4846320" y="2889360"/>
            <a:ext cx="383760" cy="3837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26"/>
          <p:cNvSpPr/>
          <p:nvPr/>
        </p:nvSpPr>
        <p:spPr>
          <a:xfrm>
            <a:off x="4846320" y="28893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0f0f0"/>
                </a:solidFill>
                <a:latin typeface="Arial Black"/>
                <a:ea typeface="Arial Black"/>
              </a:rPr>
              <a:t>03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3" name="Text 27"/>
          <p:cNvSpPr/>
          <p:nvPr/>
        </p:nvSpPr>
        <p:spPr>
          <a:xfrm>
            <a:off x="5321880" y="288936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0f0f0"/>
                </a:solidFill>
                <a:latin typeface="Calibri"/>
                <a:ea typeface="Calibri"/>
              </a:rPr>
              <a:t>ResNet18 + frozen backbone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Text 28"/>
          <p:cNvSpPr/>
          <p:nvPr/>
        </p:nvSpPr>
        <p:spPr>
          <a:xfrm>
            <a:off x="5321880" y="3108960"/>
            <a:ext cx="3565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aaaaa"/>
                </a:solidFill>
                <a:latin typeface="Calibri"/>
                <a:ea typeface="Calibri"/>
              </a:rPr>
              <a:t>Replace fc: Linear(512, 37)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5" name="Shape 29"/>
          <p:cNvSpPr/>
          <p:nvPr/>
        </p:nvSpPr>
        <p:spPr>
          <a:xfrm>
            <a:off x="4846320" y="3602880"/>
            <a:ext cx="383760" cy="3837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30"/>
          <p:cNvSpPr/>
          <p:nvPr/>
        </p:nvSpPr>
        <p:spPr>
          <a:xfrm>
            <a:off x="4846320" y="3602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0f0f0"/>
                </a:solidFill>
                <a:latin typeface="Arial Black"/>
                <a:ea typeface="Arial Black"/>
              </a:rPr>
              <a:t>04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7" name="Text 31"/>
          <p:cNvSpPr/>
          <p:nvPr/>
        </p:nvSpPr>
        <p:spPr>
          <a:xfrm>
            <a:off x="5321880" y="360288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0f0f0"/>
                </a:solidFill>
                <a:latin typeface="Calibri"/>
                <a:ea typeface="Calibri"/>
              </a:rPr>
              <a:t>Adam optimizer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" name="Text 32"/>
          <p:cNvSpPr/>
          <p:nvPr/>
        </p:nvSpPr>
        <p:spPr>
          <a:xfrm>
            <a:off x="5321880" y="3822120"/>
            <a:ext cx="3565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aaaaa"/>
                </a:solidFill>
                <a:latin typeface="Calibri"/>
                <a:ea typeface="Calibri"/>
              </a:rPr>
              <a:t>lr=0.001, only fc parameters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9" name="Shape 33"/>
          <p:cNvSpPr/>
          <p:nvPr/>
        </p:nvSpPr>
        <p:spPr>
          <a:xfrm>
            <a:off x="4846320" y="4316040"/>
            <a:ext cx="383760" cy="3837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34"/>
          <p:cNvSpPr/>
          <p:nvPr/>
        </p:nvSpPr>
        <p:spPr>
          <a:xfrm>
            <a:off x="4846320" y="4316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0f0f0"/>
                </a:solidFill>
                <a:latin typeface="Arial Black"/>
                <a:ea typeface="Arial Black"/>
              </a:rPr>
              <a:t>05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1" name="Text 35"/>
          <p:cNvSpPr/>
          <p:nvPr/>
        </p:nvSpPr>
        <p:spPr>
          <a:xfrm>
            <a:off x="5321880" y="431604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0f0f0"/>
                </a:solidFill>
                <a:latin typeface="Calibri"/>
                <a:ea typeface="Calibri"/>
              </a:rPr>
              <a:t>Early stopping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2" name="Text 36"/>
          <p:cNvSpPr/>
          <p:nvPr/>
        </p:nvSpPr>
        <p:spPr>
          <a:xfrm>
            <a:off x="5321880" y="4535280"/>
            <a:ext cx="3565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aaaaa"/>
                </a:solidFill>
                <a:latin typeface="Calibri"/>
                <a:ea typeface="Calibri"/>
              </a:rPr>
              <a:t>patience=5 on val loss, best checkpoint saved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61b27"/>
          </a:solidFill>
          <a:ln w="12700">
            <a:solidFill>
              <a:srgbClr val="161b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Shape 1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2"/>
          <p:cNvSpPr/>
          <p:nvPr/>
        </p:nvSpPr>
        <p:spPr>
          <a:xfrm>
            <a:off x="365760" y="128160"/>
            <a:ext cx="8229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0f0f0"/>
                </a:solidFill>
                <a:latin typeface="Arial Black"/>
                <a:ea typeface="Arial Black"/>
              </a:rPr>
              <a:t>Results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274320" y="960120"/>
            <a:ext cx="1965600" cy="1325520"/>
          </a:xfrm>
          <a:prstGeom prst="rect">
            <a:avLst/>
          </a:prstGeom>
          <a:solidFill>
            <a:srgbClr val="0f3460"/>
          </a:solidFill>
          <a:ln w="12700">
            <a:solidFill>
              <a:srgbClr val="1a2a4a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7" name="Text 4"/>
          <p:cNvSpPr/>
          <p:nvPr/>
        </p:nvSpPr>
        <p:spPr>
          <a:xfrm>
            <a:off x="274320" y="1024200"/>
            <a:ext cx="1965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e94560"/>
                </a:solidFill>
                <a:latin typeface="Arial Black"/>
                <a:ea typeface="Arial Black"/>
              </a:rPr>
              <a:t>88.2%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274320" y="160020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0f0f0"/>
                </a:solidFill>
                <a:latin typeface="Calibri"/>
                <a:ea typeface="Calibri"/>
              </a:rPr>
              <a:t>Test Accuracy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274320" y="184716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aaaaa"/>
                </a:solidFill>
                <a:latin typeface="Calibri"/>
                <a:ea typeface="Calibri"/>
              </a:rPr>
              <a:t>3,669 held-out images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0" name="Shape 7"/>
          <p:cNvSpPr/>
          <p:nvPr/>
        </p:nvSpPr>
        <p:spPr>
          <a:xfrm>
            <a:off x="2450520" y="960120"/>
            <a:ext cx="1965600" cy="1325520"/>
          </a:xfrm>
          <a:prstGeom prst="rect">
            <a:avLst/>
          </a:prstGeom>
          <a:solidFill>
            <a:srgbClr val="0f3460"/>
          </a:solidFill>
          <a:ln w="12700">
            <a:solidFill>
              <a:srgbClr val="1a2a4a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1" name="Text 8"/>
          <p:cNvSpPr/>
          <p:nvPr/>
        </p:nvSpPr>
        <p:spPr>
          <a:xfrm>
            <a:off x="2450520" y="1024200"/>
            <a:ext cx="1965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e94560"/>
                </a:solidFill>
                <a:latin typeface="Arial Black"/>
                <a:ea typeface="Arial Black"/>
              </a:rPr>
              <a:t>0.88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2450520" y="160020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0f0f0"/>
                </a:solidFill>
                <a:latin typeface="Calibri"/>
                <a:ea typeface="Calibri"/>
              </a:rPr>
              <a:t>Macro F1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2450520" y="184716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aaaaa"/>
                </a:solidFill>
                <a:latin typeface="Calibri"/>
                <a:ea typeface="Calibri"/>
              </a:rPr>
              <a:t>avg across 37 classes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4" name="Shape 11"/>
          <p:cNvSpPr/>
          <p:nvPr/>
        </p:nvSpPr>
        <p:spPr>
          <a:xfrm>
            <a:off x="4626720" y="960120"/>
            <a:ext cx="1965600" cy="1325520"/>
          </a:xfrm>
          <a:prstGeom prst="rect">
            <a:avLst/>
          </a:prstGeom>
          <a:solidFill>
            <a:srgbClr val="0f3460"/>
          </a:solidFill>
          <a:ln w="12700">
            <a:solidFill>
              <a:srgbClr val="1a2a4a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5" name="Text 12"/>
          <p:cNvSpPr/>
          <p:nvPr/>
        </p:nvSpPr>
        <p:spPr>
          <a:xfrm>
            <a:off x="4626720" y="1024200"/>
            <a:ext cx="1965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e94560"/>
                </a:solidFill>
                <a:latin typeface="Arial Black"/>
                <a:ea typeface="Arial Black"/>
              </a:rPr>
              <a:t>90%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16" name="Text 13"/>
          <p:cNvSpPr/>
          <p:nvPr/>
        </p:nvSpPr>
        <p:spPr>
          <a:xfrm>
            <a:off x="4626720" y="160020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0f0f0"/>
                </a:solidFill>
                <a:latin typeface="Calibri"/>
                <a:ea typeface="Calibri"/>
              </a:rPr>
              <a:t>Benchmark (10 img)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7" name="Text 14"/>
          <p:cNvSpPr/>
          <p:nvPr/>
        </p:nvSpPr>
        <p:spPr>
          <a:xfrm>
            <a:off x="4626720" y="184716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aaaaa"/>
                </a:solidFill>
                <a:latin typeface="Calibri"/>
                <a:ea typeface="Calibri"/>
              </a:rPr>
              <a:t>vs Gemini 2.5 Flash-Lite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8" name="Shape 15"/>
          <p:cNvSpPr/>
          <p:nvPr/>
        </p:nvSpPr>
        <p:spPr>
          <a:xfrm>
            <a:off x="6803280" y="960120"/>
            <a:ext cx="1965600" cy="1325520"/>
          </a:xfrm>
          <a:prstGeom prst="rect">
            <a:avLst/>
          </a:prstGeom>
          <a:solidFill>
            <a:srgbClr val="0f3460"/>
          </a:solidFill>
          <a:ln w="12700">
            <a:solidFill>
              <a:srgbClr val="1a2a4a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9" name="Text 16"/>
          <p:cNvSpPr/>
          <p:nvPr/>
        </p:nvSpPr>
        <p:spPr>
          <a:xfrm>
            <a:off x="6803280" y="1024200"/>
            <a:ext cx="1965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e94560"/>
                </a:solidFill>
                <a:latin typeface="Arial Black"/>
                <a:ea typeface="Arial Black"/>
              </a:rPr>
              <a:t>21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20" name="Text 17"/>
          <p:cNvSpPr/>
          <p:nvPr/>
        </p:nvSpPr>
        <p:spPr>
          <a:xfrm>
            <a:off x="6803280" y="160020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0f0f0"/>
                </a:solidFill>
                <a:latin typeface="Calibri"/>
                <a:ea typeface="Calibri"/>
              </a:rPr>
              <a:t>Best Epoch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1" name="Text 18"/>
          <p:cNvSpPr/>
          <p:nvPr/>
        </p:nvSpPr>
        <p:spPr>
          <a:xfrm>
            <a:off x="6803280" y="184716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aaaaa"/>
                </a:solidFill>
                <a:latin typeface="Calibri"/>
                <a:ea typeface="Calibri"/>
              </a:rPr>
              <a:t>early stopped at 24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2" name="Text 19"/>
          <p:cNvSpPr/>
          <p:nvPr/>
        </p:nvSpPr>
        <p:spPr>
          <a:xfrm>
            <a:off x="365760" y="251460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cc44"/>
                </a:solidFill>
                <a:latin typeface="Calibri"/>
                <a:ea typeface="Calibri"/>
              </a:rPr>
              <a:t>Best Performing Breeds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3" name="Text 20"/>
          <p:cNvSpPr/>
          <p:nvPr/>
        </p:nvSpPr>
        <p:spPr>
          <a:xfrm>
            <a:off x="365760" y="283464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aaaaaa"/>
                </a:solidFill>
                <a:latin typeface="Calibri"/>
                <a:ea typeface="Calibri"/>
              </a:rPr>
              <a:t>Japanese Chin 🐶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24" name="Shape 21"/>
          <p:cNvSpPr/>
          <p:nvPr/>
        </p:nvSpPr>
        <p:spPr>
          <a:xfrm>
            <a:off x="2057400" y="2871360"/>
            <a:ext cx="1828440" cy="182520"/>
          </a:xfrm>
          <a:prstGeom prst="rect">
            <a:avLst/>
          </a:prstGeom>
          <a:solidFill>
            <a:srgbClr val="0a2a14"/>
          </a:solidFill>
          <a:ln w="12700">
            <a:solidFill>
              <a:srgbClr val="0a2a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Shape 22"/>
          <p:cNvSpPr/>
          <p:nvPr/>
        </p:nvSpPr>
        <p:spPr>
          <a:xfrm>
            <a:off x="2057400" y="2871360"/>
            <a:ext cx="1810080" cy="182520"/>
          </a:xfrm>
          <a:prstGeom prst="rect">
            <a:avLst/>
          </a:prstGeom>
          <a:solidFill>
            <a:srgbClr val="00cc44"/>
          </a:solidFill>
          <a:ln w="12700">
            <a:solidFill>
              <a:srgbClr val="00cc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23"/>
          <p:cNvSpPr/>
          <p:nvPr/>
        </p:nvSpPr>
        <p:spPr>
          <a:xfrm>
            <a:off x="3931920" y="283464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00cc44"/>
                </a:solidFill>
                <a:latin typeface="Calibri"/>
                <a:ea typeface="Calibri"/>
              </a:rPr>
              <a:t>0.99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27" name="Text 24"/>
          <p:cNvSpPr/>
          <p:nvPr/>
        </p:nvSpPr>
        <p:spPr>
          <a:xfrm>
            <a:off x="365760" y="323712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aaaaaa"/>
                </a:solidFill>
                <a:latin typeface="Calibri"/>
                <a:ea typeface="Calibri"/>
              </a:rPr>
              <a:t>Keeshond 🐶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28" name="Shape 25"/>
          <p:cNvSpPr/>
          <p:nvPr/>
        </p:nvSpPr>
        <p:spPr>
          <a:xfrm>
            <a:off x="2057400" y="3273480"/>
            <a:ext cx="1828440" cy="182520"/>
          </a:xfrm>
          <a:prstGeom prst="rect">
            <a:avLst/>
          </a:prstGeom>
          <a:solidFill>
            <a:srgbClr val="0a2a14"/>
          </a:solidFill>
          <a:ln w="12700">
            <a:solidFill>
              <a:srgbClr val="0a2a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hape 26"/>
          <p:cNvSpPr/>
          <p:nvPr/>
        </p:nvSpPr>
        <p:spPr>
          <a:xfrm>
            <a:off x="2057400" y="3273480"/>
            <a:ext cx="1791720" cy="182520"/>
          </a:xfrm>
          <a:prstGeom prst="rect">
            <a:avLst/>
          </a:prstGeom>
          <a:solidFill>
            <a:srgbClr val="00cc44"/>
          </a:solidFill>
          <a:ln w="12700">
            <a:solidFill>
              <a:srgbClr val="00cc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7"/>
          <p:cNvSpPr/>
          <p:nvPr/>
        </p:nvSpPr>
        <p:spPr>
          <a:xfrm>
            <a:off x="3931920" y="323712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00cc44"/>
                </a:solidFill>
                <a:latin typeface="Calibri"/>
                <a:ea typeface="Calibri"/>
              </a:rPr>
              <a:t>0.98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31" name="Text 28"/>
          <p:cNvSpPr/>
          <p:nvPr/>
        </p:nvSpPr>
        <p:spPr>
          <a:xfrm>
            <a:off x="365760" y="363924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aaaaaa"/>
                </a:solidFill>
                <a:latin typeface="Calibri"/>
                <a:ea typeface="Calibri"/>
              </a:rPr>
              <a:t>Scottish Terrier 🐶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32" name="Shape 29"/>
          <p:cNvSpPr/>
          <p:nvPr/>
        </p:nvSpPr>
        <p:spPr>
          <a:xfrm>
            <a:off x="2057400" y="3675960"/>
            <a:ext cx="1828440" cy="182520"/>
          </a:xfrm>
          <a:prstGeom prst="rect">
            <a:avLst/>
          </a:prstGeom>
          <a:solidFill>
            <a:srgbClr val="0a2a14"/>
          </a:solidFill>
          <a:ln w="12700">
            <a:solidFill>
              <a:srgbClr val="0a2a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Shape 30"/>
          <p:cNvSpPr/>
          <p:nvPr/>
        </p:nvSpPr>
        <p:spPr>
          <a:xfrm>
            <a:off x="2057400" y="3675960"/>
            <a:ext cx="1791720" cy="182520"/>
          </a:xfrm>
          <a:prstGeom prst="rect">
            <a:avLst/>
          </a:prstGeom>
          <a:solidFill>
            <a:srgbClr val="00cc44"/>
          </a:solidFill>
          <a:ln w="12700">
            <a:solidFill>
              <a:srgbClr val="00cc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31"/>
          <p:cNvSpPr/>
          <p:nvPr/>
        </p:nvSpPr>
        <p:spPr>
          <a:xfrm>
            <a:off x="3931920" y="363924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00cc44"/>
                </a:solidFill>
                <a:latin typeface="Calibri"/>
                <a:ea typeface="Calibri"/>
              </a:rPr>
              <a:t>0.98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35" name="Text 32"/>
          <p:cNvSpPr/>
          <p:nvPr/>
        </p:nvSpPr>
        <p:spPr>
          <a:xfrm>
            <a:off x="365760" y="404172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aaaaaa"/>
                </a:solidFill>
                <a:latin typeface="Calibri"/>
                <a:ea typeface="Calibri"/>
              </a:rPr>
              <a:t>Pug 🐶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36" name="Shape 33"/>
          <p:cNvSpPr/>
          <p:nvPr/>
        </p:nvSpPr>
        <p:spPr>
          <a:xfrm>
            <a:off x="2057400" y="4078080"/>
            <a:ext cx="1828440" cy="182520"/>
          </a:xfrm>
          <a:prstGeom prst="rect">
            <a:avLst/>
          </a:prstGeom>
          <a:solidFill>
            <a:srgbClr val="0a2a14"/>
          </a:solidFill>
          <a:ln w="12700">
            <a:solidFill>
              <a:srgbClr val="0a2a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Shape 34"/>
          <p:cNvSpPr/>
          <p:nvPr/>
        </p:nvSpPr>
        <p:spPr>
          <a:xfrm>
            <a:off x="2057400" y="4078080"/>
            <a:ext cx="1773720" cy="182520"/>
          </a:xfrm>
          <a:prstGeom prst="rect">
            <a:avLst/>
          </a:prstGeom>
          <a:solidFill>
            <a:srgbClr val="00cc44"/>
          </a:solidFill>
          <a:ln w="12700">
            <a:solidFill>
              <a:srgbClr val="00cc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35"/>
          <p:cNvSpPr/>
          <p:nvPr/>
        </p:nvSpPr>
        <p:spPr>
          <a:xfrm>
            <a:off x="3931920" y="404172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00cc44"/>
                </a:solidFill>
                <a:latin typeface="Calibri"/>
                <a:ea typeface="Calibri"/>
              </a:rPr>
              <a:t>0.97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39" name="Text 36"/>
          <p:cNvSpPr/>
          <p:nvPr/>
        </p:nvSpPr>
        <p:spPr>
          <a:xfrm>
            <a:off x="365760" y="444384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aaaaaa"/>
                </a:solidFill>
                <a:latin typeface="Calibri"/>
                <a:ea typeface="Calibri"/>
              </a:rPr>
              <a:t>Samoyed 🐶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40" name="Shape 37"/>
          <p:cNvSpPr/>
          <p:nvPr/>
        </p:nvSpPr>
        <p:spPr>
          <a:xfrm>
            <a:off x="2057400" y="4480560"/>
            <a:ext cx="1828440" cy="182520"/>
          </a:xfrm>
          <a:prstGeom prst="rect">
            <a:avLst/>
          </a:prstGeom>
          <a:solidFill>
            <a:srgbClr val="0a2a14"/>
          </a:solidFill>
          <a:ln w="12700">
            <a:solidFill>
              <a:srgbClr val="0a2a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Shape 38"/>
          <p:cNvSpPr/>
          <p:nvPr/>
        </p:nvSpPr>
        <p:spPr>
          <a:xfrm>
            <a:off x="2057400" y="4480560"/>
            <a:ext cx="1773720" cy="182520"/>
          </a:xfrm>
          <a:prstGeom prst="rect">
            <a:avLst/>
          </a:prstGeom>
          <a:solidFill>
            <a:srgbClr val="00cc44"/>
          </a:solidFill>
          <a:ln w="12700">
            <a:solidFill>
              <a:srgbClr val="00cc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39"/>
          <p:cNvSpPr/>
          <p:nvPr/>
        </p:nvSpPr>
        <p:spPr>
          <a:xfrm>
            <a:off x="3931920" y="444384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00cc44"/>
                </a:solidFill>
                <a:latin typeface="Calibri"/>
                <a:ea typeface="Calibri"/>
              </a:rPr>
              <a:t>0.97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43" name="Text 40"/>
          <p:cNvSpPr/>
          <p:nvPr/>
        </p:nvSpPr>
        <p:spPr>
          <a:xfrm>
            <a:off x="4572000" y="2514600"/>
            <a:ext cx="429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aa00"/>
                </a:solidFill>
                <a:latin typeface="Calibri"/>
                <a:ea typeface="Calibri"/>
              </a:rPr>
              <a:t>Hardest Breeds (visually similar pairs)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4" name="Text 41"/>
          <p:cNvSpPr/>
          <p:nvPr/>
        </p:nvSpPr>
        <p:spPr>
          <a:xfrm>
            <a:off x="4572000" y="283464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aaaaaa"/>
                </a:solidFill>
                <a:latin typeface="Calibri"/>
                <a:ea typeface="Calibri"/>
              </a:rPr>
              <a:t>American Pit Bull Terrier 🐶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45" name="Shape 42"/>
          <p:cNvSpPr/>
          <p:nvPr/>
        </p:nvSpPr>
        <p:spPr>
          <a:xfrm>
            <a:off x="6263640" y="2871360"/>
            <a:ext cx="1828440" cy="182520"/>
          </a:xfrm>
          <a:prstGeom prst="rect">
            <a:avLst/>
          </a:prstGeom>
          <a:solidFill>
            <a:srgbClr val="2a1500"/>
          </a:solidFill>
          <a:ln w="12700">
            <a:solidFill>
              <a:srgbClr val="2a15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Shape 43"/>
          <p:cNvSpPr/>
          <p:nvPr/>
        </p:nvSpPr>
        <p:spPr>
          <a:xfrm>
            <a:off x="6263640" y="2871360"/>
            <a:ext cx="1014840" cy="1825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44"/>
          <p:cNvSpPr/>
          <p:nvPr/>
        </p:nvSpPr>
        <p:spPr>
          <a:xfrm>
            <a:off x="8138160" y="283464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aa00"/>
                </a:solidFill>
                <a:latin typeface="Calibri"/>
                <a:ea typeface="Calibri"/>
              </a:rPr>
              <a:t>0.52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48" name="Text 45"/>
          <p:cNvSpPr/>
          <p:nvPr/>
        </p:nvSpPr>
        <p:spPr>
          <a:xfrm>
            <a:off x="4572000" y="323712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aaaaaa"/>
                </a:solidFill>
                <a:latin typeface="Calibri"/>
                <a:ea typeface="Calibri"/>
              </a:rPr>
              <a:t>Staffordshire Bull Terrier 🐶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49" name="Shape 46"/>
          <p:cNvSpPr/>
          <p:nvPr/>
        </p:nvSpPr>
        <p:spPr>
          <a:xfrm>
            <a:off x="6263640" y="3273480"/>
            <a:ext cx="1828440" cy="182520"/>
          </a:xfrm>
          <a:prstGeom prst="rect">
            <a:avLst/>
          </a:prstGeom>
          <a:solidFill>
            <a:srgbClr val="2a1500"/>
          </a:solidFill>
          <a:ln w="12700">
            <a:solidFill>
              <a:srgbClr val="2a15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Shape 47"/>
          <p:cNvSpPr/>
          <p:nvPr/>
        </p:nvSpPr>
        <p:spPr>
          <a:xfrm>
            <a:off x="6263640" y="3273480"/>
            <a:ext cx="1133640" cy="1825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48"/>
          <p:cNvSpPr/>
          <p:nvPr/>
        </p:nvSpPr>
        <p:spPr>
          <a:xfrm>
            <a:off x="8138160" y="323712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aa00"/>
                </a:solidFill>
                <a:latin typeface="Calibri"/>
                <a:ea typeface="Calibri"/>
              </a:rPr>
              <a:t>0.62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52" name="Text 49"/>
          <p:cNvSpPr/>
          <p:nvPr/>
        </p:nvSpPr>
        <p:spPr>
          <a:xfrm>
            <a:off x="4572000" y="363924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aaaaaa"/>
                </a:solidFill>
                <a:latin typeface="Calibri"/>
                <a:ea typeface="Calibri"/>
              </a:rPr>
              <a:t>Ragdoll 🐱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53" name="Shape 50"/>
          <p:cNvSpPr/>
          <p:nvPr/>
        </p:nvSpPr>
        <p:spPr>
          <a:xfrm>
            <a:off x="6263640" y="3675960"/>
            <a:ext cx="1828440" cy="182520"/>
          </a:xfrm>
          <a:prstGeom prst="rect">
            <a:avLst/>
          </a:prstGeom>
          <a:solidFill>
            <a:srgbClr val="2a1500"/>
          </a:solidFill>
          <a:ln w="12700">
            <a:solidFill>
              <a:srgbClr val="2a15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Shape 51"/>
          <p:cNvSpPr/>
          <p:nvPr/>
        </p:nvSpPr>
        <p:spPr>
          <a:xfrm>
            <a:off x="6263640" y="3675960"/>
            <a:ext cx="1133640" cy="1825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52"/>
          <p:cNvSpPr/>
          <p:nvPr/>
        </p:nvSpPr>
        <p:spPr>
          <a:xfrm>
            <a:off x="8138160" y="363924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aa00"/>
                </a:solidFill>
                <a:latin typeface="Calibri"/>
                <a:ea typeface="Calibri"/>
              </a:rPr>
              <a:t>0.62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56" name="Text 53"/>
          <p:cNvSpPr/>
          <p:nvPr/>
        </p:nvSpPr>
        <p:spPr>
          <a:xfrm>
            <a:off x="4572000" y="404172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aaaaaa"/>
                </a:solidFill>
                <a:latin typeface="Calibri"/>
                <a:ea typeface="Calibri"/>
              </a:rPr>
              <a:t>Birman 🐱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57" name="Shape 54"/>
          <p:cNvSpPr/>
          <p:nvPr/>
        </p:nvSpPr>
        <p:spPr>
          <a:xfrm>
            <a:off x="6263640" y="4078080"/>
            <a:ext cx="1828440" cy="182520"/>
          </a:xfrm>
          <a:prstGeom prst="rect">
            <a:avLst/>
          </a:prstGeom>
          <a:solidFill>
            <a:srgbClr val="2a1500"/>
          </a:solidFill>
          <a:ln w="12700">
            <a:solidFill>
              <a:srgbClr val="2a15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Shape 55"/>
          <p:cNvSpPr/>
          <p:nvPr/>
        </p:nvSpPr>
        <p:spPr>
          <a:xfrm>
            <a:off x="6263640" y="4078080"/>
            <a:ext cx="1481040" cy="1825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56"/>
          <p:cNvSpPr/>
          <p:nvPr/>
        </p:nvSpPr>
        <p:spPr>
          <a:xfrm>
            <a:off x="8138160" y="404172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aa00"/>
                </a:solidFill>
                <a:latin typeface="Calibri"/>
                <a:ea typeface="Calibri"/>
              </a:rPr>
              <a:t>0.81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60" name="Text 57"/>
          <p:cNvSpPr/>
          <p:nvPr/>
        </p:nvSpPr>
        <p:spPr>
          <a:xfrm>
            <a:off x="4572000" y="444384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aaaaaa"/>
                </a:solidFill>
                <a:latin typeface="Calibri"/>
                <a:ea typeface="Calibri"/>
              </a:rPr>
              <a:t>American Bulldog 🐱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61" name="Shape 58"/>
          <p:cNvSpPr/>
          <p:nvPr/>
        </p:nvSpPr>
        <p:spPr>
          <a:xfrm>
            <a:off x="6263640" y="4480560"/>
            <a:ext cx="1828440" cy="182520"/>
          </a:xfrm>
          <a:prstGeom prst="rect">
            <a:avLst/>
          </a:prstGeom>
          <a:solidFill>
            <a:srgbClr val="2a1500"/>
          </a:solidFill>
          <a:ln w="12700">
            <a:solidFill>
              <a:srgbClr val="2a15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Shape 59"/>
          <p:cNvSpPr/>
          <p:nvPr/>
        </p:nvSpPr>
        <p:spPr>
          <a:xfrm>
            <a:off x="6263640" y="4480560"/>
            <a:ext cx="1517400" cy="1825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60"/>
          <p:cNvSpPr/>
          <p:nvPr/>
        </p:nvSpPr>
        <p:spPr>
          <a:xfrm>
            <a:off x="8138160" y="444384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aa00"/>
                </a:solidFill>
                <a:latin typeface="Calibri"/>
                <a:ea typeface="Calibri"/>
              </a:rPr>
              <a:t>0.83</a:t>
            </a:r>
            <a:endParaRPr b="0" lang="en-US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61b27"/>
          </a:solidFill>
          <a:ln w="12700">
            <a:solidFill>
              <a:srgbClr val="161b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Shape 1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2"/>
          <p:cNvSpPr/>
          <p:nvPr/>
        </p:nvSpPr>
        <p:spPr>
          <a:xfrm>
            <a:off x="365760" y="128160"/>
            <a:ext cx="8229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0f0f0"/>
                </a:solidFill>
                <a:latin typeface="Arial Black"/>
                <a:ea typeface="Arial Black"/>
              </a:rPr>
              <a:t>What's Next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7" name="Text 16"/>
          <p:cNvSpPr/>
          <p:nvPr/>
        </p:nvSpPr>
        <p:spPr>
          <a:xfrm>
            <a:off x="235440" y="1005840"/>
            <a:ext cx="4205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e94560"/>
                </a:solidFill>
                <a:latin typeface="Calibri"/>
                <a:ea typeface="Calibri"/>
              </a:rPr>
              <a:t>What Could Improve This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8" name="Shape 17"/>
          <p:cNvSpPr/>
          <p:nvPr/>
        </p:nvSpPr>
        <p:spPr>
          <a:xfrm>
            <a:off x="235440" y="1409400"/>
            <a:ext cx="8451360" cy="1005480"/>
          </a:xfrm>
          <a:prstGeom prst="rect">
            <a:avLst/>
          </a:prstGeom>
          <a:solidFill>
            <a:srgbClr val="161b27"/>
          </a:solidFill>
          <a:ln w="12700">
            <a:solidFill>
              <a:srgbClr val="2a2f3e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9" name="Text 18"/>
          <p:cNvSpPr/>
          <p:nvPr/>
        </p:nvSpPr>
        <p:spPr>
          <a:xfrm>
            <a:off x="345240" y="14734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0f0f0"/>
                </a:solidFill>
                <a:latin typeface="Calibri"/>
                <a:ea typeface="Calibri"/>
              </a:rPr>
              <a:t>🔓  </a:t>
            </a:r>
            <a:r>
              <a:rPr b="1" lang="en-US" sz="1100" spc="-1" strike="noStrike">
                <a:solidFill>
                  <a:srgbClr val="f0f0f0"/>
                </a:solidFill>
                <a:latin typeface="Calibri"/>
                <a:ea typeface="Calibri"/>
              </a:rPr>
              <a:t>Gradual Unfreezing (Stage 2 Fine-Tuning)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70" name="Text 19"/>
          <p:cNvSpPr/>
          <p:nvPr/>
        </p:nvSpPr>
        <p:spPr>
          <a:xfrm>
            <a:off x="345240" y="1775160"/>
            <a:ext cx="834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aaaaa"/>
                </a:solidFill>
                <a:latin typeface="Calibri"/>
                <a:ea typeface="Calibri"/>
              </a:rPr>
              <a:t>After the classification head converges, unfreeze layer3 and layer4 of ResNet18 and continue training with lr=1e-4. The backbone would adapt higher-level features to pet-specific patterns. Estimated gain: +3-5% accuracy.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1" name="Shape 20"/>
          <p:cNvSpPr/>
          <p:nvPr/>
        </p:nvSpPr>
        <p:spPr>
          <a:xfrm>
            <a:off x="235440" y="2552400"/>
            <a:ext cx="8451360" cy="1005480"/>
          </a:xfrm>
          <a:prstGeom prst="rect">
            <a:avLst/>
          </a:prstGeom>
          <a:solidFill>
            <a:srgbClr val="161b27"/>
          </a:solidFill>
          <a:ln w="12700">
            <a:solidFill>
              <a:srgbClr val="2a2f3e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2" name="Text 21"/>
          <p:cNvSpPr/>
          <p:nvPr/>
        </p:nvSpPr>
        <p:spPr>
          <a:xfrm>
            <a:off x="345240" y="26164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0f0f0"/>
                </a:solidFill>
                <a:latin typeface="Calibri"/>
                <a:ea typeface="Calibri"/>
              </a:rPr>
              <a:t>🧠  </a:t>
            </a:r>
            <a:r>
              <a:rPr b="1" lang="en-US" sz="1100" spc="-1" strike="noStrike">
                <a:solidFill>
                  <a:srgbClr val="f0f0f0"/>
                </a:solidFill>
                <a:latin typeface="Calibri"/>
                <a:ea typeface="Calibri"/>
              </a:rPr>
              <a:t>Stronger Backbone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73" name="Text 22"/>
          <p:cNvSpPr/>
          <p:nvPr/>
        </p:nvSpPr>
        <p:spPr>
          <a:xfrm rot="21597600">
            <a:off x="345240" y="2914920"/>
            <a:ext cx="834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aaaaa"/>
                </a:solidFill>
                <a:latin typeface="Calibri"/>
                <a:ea typeface="Calibri"/>
              </a:rPr>
              <a:t>EfficientNet-B4 or ViT-B/16 would offer higher feature capacity. ViT in particular handles fine-grained classification well due to global attention. Tradeoff: longer training time.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4" name="Shape 23"/>
          <p:cNvSpPr/>
          <p:nvPr/>
        </p:nvSpPr>
        <p:spPr>
          <a:xfrm>
            <a:off x="235440" y="3695400"/>
            <a:ext cx="8451360" cy="1005480"/>
          </a:xfrm>
          <a:prstGeom prst="rect">
            <a:avLst/>
          </a:prstGeom>
          <a:solidFill>
            <a:srgbClr val="161b27"/>
          </a:solidFill>
          <a:ln w="12700">
            <a:solidFill>
              <a:srgbClr val="2a2f3e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5" name="Text 24"/>
          <p:cNvSpPr/>
          <p:nvPr/>
        </p:nvSpPr>
        <p:spPr>
          <a:xfrm>
            <a:off x="345240" y="37594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0f0f0"/>
                </a:solidFill>
                <a:latin typeface="Calibri"/>
                <a:ea typeface="Calibri"/>
              </a:rPr>
              <a:t>✂️  </a:t>
            </a:r>
            <a:r>
              <a:rPr b="1" lang="en-US" sz="1100" spc="-1" strike="noStrike">
                <a:solidFill>
                  <a:srgbClr val="f0f0f0"/>
                </a:solidFill>
                <a:latin typeface="Calibri"/>
                <a:ea typeface="Calibri"/>
              </a:rPr>
              <a:t>Class-Aware Augmentation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76" name="Text 25"/>
          <p:cNvSpPr/>
          <p:nvPr/>
        </p:nvSpPr>
        <p:spPr>
          <a:xfrm>
            <a:off x="345240" y="4061160"/>
            <a:ext cx="834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aaaaa"/>
                </a:solidFill>
                <a:latin typeface="Calibri"/>
                <a:ea typeface="Calibri"/>
              </a:rPr>
              <a:t>Apply Mixup or CutMix specifically on the hardest class pairs (Staffordshire vs Pit Bull, Bengal vs Abyssinian) to improve decision boundary sharpness where the model currently fails.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7" name="Shape 26"/>
          <p:cNvSpPr/>
          <p:nvPr/>
        </p:nvSpPr>
        <p:spPr>
          <a:xfrm>
            <a:off x="0" y="4800600"/>
            <a:ext cx="9143640" cy="342720"/>
          </a:xfrm>
          <a:prstGeom prst="rect">
            <a:avLst/>
          </a:prstGeom>
          <a:solidFill>
            <a:srgbClr val="161b27"/>
          </a:solidFill>
          <a:ln w="12700">
            <a:solidFill>
              <a:srgbClr val="161b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27"/>
          <p:cNvSpPr/>
          <p:nvPr/>
        </p:nvSpPr>
        <p:spPr>
          <a:xfrm>
            <a:off x="365760" y="4827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aaaaa"/>
                </a:solidFill>
                <a:latin typeface="Calibri"/>
                <a:ea typeface="Calibri"/>
              </a:rPr>
              <a:t>🐾  </a:t>
            </a:r>
            <a:r>
              <a:rPr b="0" lang="en-US" sz="1100" spc="-1" strike="noStrike">
                <a:solidFill>
                  <a:srgbClr val="aaaaaa"/>
                </a:solidFill>
                <a:latin typeface="Calibri"/>
                <a:ea typeface="Calibri"/>
              </a:rPr>
              <a:t>github.com/luisrenteria/oxford-pets-classifier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2026-04-14T00:46:56Z</dcterms:created>
  <dc:creator>Luis Renteria</dc:creator>
  <dc:description/>
  <dc:language>en-US</dc:language>
  <cp:lastModifiedBy/>
  <dcterms:modified xsi:type="dcterms:W3CDTF">2026-04-13T23:11:40Z</dcterms:modified>
  <cp:revision>2</cp:revision>
  <dc:subject>PptxGenJS Presentation</dc:subject>
  <dc:title>PawsClassifier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On-screen Show (16:9)</vt:lpwstr>
  </property>
  <property fmtid="{D5CDD505-2E9C-101B-9397-08002B2CF9AE}" pid="4" name="Slides">
    <vt:i4>4</vt:i4>
  </property>
</Properties>
</file>